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60" r:id="rId5"/>
    <p:sldId id="259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73" d="100"/>
          <a:sy n="73" d="100"/>
        </p:scale>
        <p:origin x="380" y="3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6/30/2026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6/30/2026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6/30/2026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6/30/2026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00C2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6793992"/>
            <a:ext cx="12191695" cy="64008"/>
          </a:xfrm>
          <a:prstGeom prst="rect">
            <a:avLst/>
          </a:prstGeom>
          <a:solidFill>
            <a:srgbClr val="00C2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00C2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57200" y="1828800"/>
            <a:ext cx="11277295" cy="137160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/>
            <a:r>
              <a:rPr sz="7200" b="0" i="0">
                <a:solidFill>
                  <a:srgbClr val="FAFBFC"/>
                </a:solidFill>
                <a:latin typeface="Segoe UI Light"/>
              </a:rPr>
              <a:t>web-modernize</a:t>
            </a:r>
          </a:p>
        </p:txBody>
      </p:sp>
      <p:sp>
        <p:nvSpPr>
          <p:cNvPr id="7" name="Rectangle 6"/>
          <p:cNvSpPr/>
          <p:nvPr/>
        </p:nvSpPr>
        <p:spPr>
          <a:xfrm>
            <a:off x="4041648" y="3246120"/>
            <a:ext cx="4114800" cy="36576"/>
          </a:xfrm>
          <a:prstGeom prst="rect">
            <a:avLst/>
          </a:prstGeom>
          <a:solidFill>
            <a:srgbClr val="00C2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57200" y="3429000"/>
            <a:ext cx="11277295" cy="5029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/>
            <a:r>
              <a:rPr sz="2200" b="0" i="0">
                <a:solidFill>
                  <a:srgbClr val="FAFBFC"/>
                </a:solidFill>
                <a:latin typeface="Segoe UI Semibold"/>
              </a:rPr>
              <a:t>AI-Guided Legacy Web Application Migration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977639"/>
            <a:ext cx="11277295" cy="4114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/>
            <a:r>
              <a:rPr sz="1500" b="0" i="1">
                <a:solidFill>
                  <a:srgbClr val="00C2CB"/>
                </a:solidFill>
                <a:latin typeface="Calibri"/>
              </a:rPr>
              <a:t>A Claude Code Plugin for Enterprise Teams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5989320"/>
            <a:ext cx="11277295" cy="3200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/>
            <a:r>
              <a:rPr sz="1200" b="0" i="0">
                <a:solidFill>
                  <a:srgbClr val="6B7280"/>
                </a:solidFill>
                <a:latin typeface="Segoe UI Semibold"/>
              </a:rPr>
              <a:t>Balaji Harikrishnan   ·   Cognizant   ·   June 2026   ·   v0.15.0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1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54864" cy="960120"/>
          </a:xfrm>
          <a:prstGeom prst="rect">
            <a:avLst/>
          </a:prstGeom>
          <a:solidFill>
            <a:srgbClr val="00C2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74320" y="91440"/>
            <a:ext cx="11704320" cy="50292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/>
            <a:r>
              <a:rPr sz="2600" b="0" i="0">
                <a:solidFill>
                  <a:srgbClr val="FAFBFC"/>
                </a:solidFill>
                <a:latin typeface="Segoe UI Semibold"/>
              </a:rPr>
              <a:t>What is  web-modernize?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566928"/>
            <a:ext cx="11704320" cy="329184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200" b="0" i="1">
                <a:solidFill>
                  <a:srgbClr val="00C2CB"/>
                </a:solidFill>
                <a:latin typeface="Calibri"/>
              </a:rPr>
              <a:t>A Claude Code plugin that gives software teams a structured workflow for modernizing legacy web applications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E6EC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274320" y="6620256"/>
            <a:ext cx="9875520" cy="219456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Calibri"/>
              </a:rPr>
              <a:t>web-modernize v0.15.0   ·   Balaji Harikrishnan   ·   Cognizant   ·   June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620256"/>
            <a:ext cx="777240" cy="219456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Segoe UI Semibold"/>
              </a:rPr>
              <a:t>02  /  13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097280"/>
            <a:ext cx="11460175" cy="365760"/>
          </a:xfrm>
          <a:prstGeom prst="rect">
            <a:avLst/>
          </a:prstGeom>
          <a:solidFill>
            <a:srgbClr val="00C2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02920" y="1115568"/>
            <a:ext cx="11277295" cy="329184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/>
            <a:r>
              <a:rPr sz="1300" b="0" i="0">
                <a:solidFill>
                  <a:srgbClr val="FAFBFC"/>
                </a:solidFill>
                <a:latin typeface="Segoe UI Semibold"/>
              </a:rPr>
              <a:t>OVERVIEW   —   what the plugin does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1554480"/>
            <a:ext cx="11460175" cy="1097280"/>
          </a:xfrm>
          <a:prstGeom prst="rect">
            <a:avLst/>
          </a:prstGeom>
          <a:solidFill>
            <a:srgbClr val="FAFBFC"/>
          </a:solidFill>
          <a:ln w="9525">
            <a:solidFill>
              <a:srgbClr val="1A56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48640" y="1600200"/>
            <a:ext cx="11094415" cy="100584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/>
            <a:r>
              <a:rPr sz="1300" b="0" i="0">
                <a:solidFill>
                  <a:srgbClr val="1F2937"/>
                </a:solidFill>
                <a:latin typeface="Calibri"/>
              </a:rPr>
              <a:t>web-modernize is a Claude Code plugin that developers install from the marketplace onto their own machine. It is used to modernize old web applications: the plugin reads a legacy application built in older technology (like ASP.NET, Java JSP, or AngularJS), then helps the team rewrite it  —  one page or feature at a time  —  into a modern framework (like React, Next.js, or Angular). Developers stay in control of every decision. The plugin handles the time-consuming translation work.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26567" y="2743200"/>
            <a:ext cx="3657600" cy="457200"/>
          </a:xfrm>
          <a:prstGeom prst="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18007" y="2761488"/>
            <a:ext cx="3474720" cy="420624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/>
            <a:r>
              <a:rPr sz="1200" b="1" i="0">
                <a:solidFill>
                  <a:srgbClr val="FAFBFC"/>
                </a:solidFill>
                <a:latin typeface="Calibri"/>
              </a:rPr>
              <a:t>Migrates feature by feature, not all at once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267047" y="2743200"/>
            <a:ext cx="3657600" cy="457200"/>
          </a:xfrm>
          <a:prstGeom prst="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358487" y="2761488"/>
            <a:ext cx="3474720" cy="420624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/>
            <a:r>
              <a:rPr sz="1200" b="1" i="0">
                <a:solidFill>
                  <a:srgbClr val="FAFBFC"/>
                </a:solidFill>
                <a:latin typeface="Calibri"/>
              </a:rPr>
              <a:t>Visible to leadership at every step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107527" y="2743200"/>
            <a:ext cx="3657600" cy="457200"/>
          </a:xfrm>
          <a:prstGeom prst="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198967" y="2761488"/>
            <a:ext cx="3474720" cy="420624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/>
            <a:r>
              <a:rPr sz="1200" b="1" i="0">
                <a:solidFill>
                  <a:srgbClr val="FAFBFC"/>
                </a:solidFill>
                <a:latin typeface="Calibri"/>
              </a:rPr>
              <a:t>Team-scale workflow, not individual prompting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3337560"/>
            <a:ext cx="11460175" cy="365760"/>
          </a:xfrm>
          <a:prstGeom prst="rect">
            <a:avLst/>
          </a:prstGeom>
          <a:solidFill>
            <a:srgbClr val="0D1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502920" y="3355848"/>
            <a:ext cx="11277295" cy="329184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/>
            <a:r>
              <a:rPr sz="1300" b="0" i="0">
                <a:solidFill>
                  <a:srgbClr val="FAFBFC"/>
                </a:solidFill>
                <a:latin typeface="Segoe UI Semibold"/>
              </a:rPr>
              <a:t>TECHNICAL OVERVIEW   —   components and architecture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65760" y="3794760"/>
            <a:ext cx="5632704" cy="1078992"/>
          </a:xfrm>
          <a:prstGeom prst="rect">
            <a:avLst/>
          </a:prstGeom>
          <a:solidFill>
            <a:srgbClr val="FAFBFC"/>
          </a:solidFill>
          <a:ln w="9525">
            <a:solidFill>
              <a:srgbClr val="0D1B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365760" y="3794760"/>
            <a:ext cx="5632704" cy="292608"/>
          </a:xfrm>
          <a:prstGeom prst="rect">
            <a:avLst/>
          </a:prstGeom>
          <a:solidFill>
            <a:srgbClr val="0D1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502920" y="3813048"/>
            <a:ext cx="5358384" cy="27432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/>
            <a:r>
              <a:rPr sz="1200" b="1" i="0">
                <a:solidFill>
                  <a:srgbClr val="FAFBFC"/>
                </a:solidFill>
                <a:latin typeface="Calibri"/>
              </a:rPr>
              <a:t>Plugin Host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" y="4142232"/>
            <a:ext cx="5358384" cy="667512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  <a:latin typeface="Calibri"/>
              </a:rPr>
              <a:t>Runs inside Claude Code (Anthropic's official AI coding tool). Installs via the standard  /plugin install  command  —  no separate infrastructure, no servers.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181344" y="3794760"/>
            <a:ext cx="5632704" cy="1078992"/>
          </a:xfrm>
          <a:prstGeom prst="rect">
            <a:avLst/>
          </a:prstGeom>
          <a:solidFill>
            <a:srgbClr val="FAFBFC"/>
          </a:solidFill>
          <a:ln w="9525">
            <a:solidFill>
              <a:srgbClr val="0D1B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6181344" y="3794760"/>
            <a:ext cx="5632704" cy="292608"/>
          </a:xfrm>
          <a:prstGeom prst="rect">
            <a:avLst/>
          </a:prstGeom>
          <a:solidFill>
            <a:srgbClr val="0D1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6318504" y="3813048"/>
            <a:ext cx="5358384" cy="27432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/>
            <a:r>
              <a:rPr sz="1200" b="1" i="0">
                <a:solidFill>
                  <a:srgbClr val="FAFBFC"/>
                </a:solidFill>
                <a:latin typeface="Calibri"/>
              </a:rPr>
              <a:t>What It Adds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18504" y="4142232"/>
            <a:ext cx="5358384" cy="667512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  <a:latin typeface="Calibri"/>
              </a:rPr>
              <a:t>18 skills exposed as slash commands  ·  6 AI agents (analyzer, migrator, cross-cutting-migrator, parity-reviewer, migration-critic, gotchas catalog)  ·  2 automation hooks  ·  two workflows/ orchestration scripts  ·  9 schema-validated templates copied into the team's repo.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65760" y="4965192"/>
            <a:ext cx="5632704" cy="1078992"/>
          </a:xfrm>
          <a:prstGeom prst="rect">
            <a:avLst/>
          </a:prstGeom>
          <a:solidFill>
            <a:srgbClr val="FAFBFC"/>
          </a:solidFill>
          <a:ln w="9525">
            <a:solidFill>
              <a:srgbClr val="0D1B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365760" y="4965192"/>
            <a:ext cx="5632704" cy="292608"/>
          </a:xfrm>
          <a:prstGeom prst="rect">
            <a:avLst/>
          </a:prstGeom>
          <a:solidFill>
            <a:srgbClr val="0D1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502920" y="4983480"/>
            <a:ext cx="5358384" cy="27432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/>
            <a:r>
              <a:rPr sz="1200" b="1" i="0">
                <a:solidFill>
                  <a:srgbClr val="FAFBFC"/>
                </a:solidFill>
                <a:latin typeface="Calibri"/>
              </a:rPr>
              <a:t>State and Concurrency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02920" y="5312664"/>
            <a:ext cx="5358384" cy="667512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  <a:latin typeface="Calibri"/>
              </a:rPr>
              <a:t>All migration state lives in git as JSON. Per-unit file split (schema v3) lets 20+ developers migrate different units in parallel  —  zero merge conflicts by design.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181344" y="4965192"/>
            <a:ext cx="5632704" cy="1078992"/>
          </a:xfrm>
          <a:prstGeom prst="rect">
            <a:avLst/>
          </a:prstGeom>
          <a:solidFill>
            <a:srgbClr val="FAFBFC"/>
          </a:solidFill>
          <a:ln w="9525">
            <a:solidFill>
              <a:srgbClr val="0D1B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6181344" y="4965192"/>
            <a:ext cx="5632704" cy="292608"/>
          </a:xfrm>
          <a:prstGeom prst="rect">
            <a:avLst/>
          </a:prstGeom>
          <a:solidFill>
            <a:srgbClr val="0D1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6318504" y="4983480"/>
            <a:ext cx="5358384" cy="27432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/>
            <a:r>
              <a:rPr sz="1200" b="1" i="0">
                <a:solidFill>
                  <a:srgbClr val="FAFBFC"/>
                </a:solidFill>
                <a:latin typeface="Calibri"/>
              </a:rPr>
              <a:t>Stacks Supported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18504" y="5312664"/>
            <a:ext cx="5358384" cy="667512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  <a:latin typeface="Calibri"/>
              </a:rPr>
              <a:t>17 source stacks (ASP.NET WebForms/MVC/Core, Java JSP/Struts/Spring, AngularJS, Vue 2, jQuery, PHP, ColdFusion, Rails, Django, WordPress, ExtJS, classic ASP)  →  14 modern targets (React/Next/Vue 3/Angular/SvelteKit/Astro/Nuxt/Remix + .NET / Spring Boot / Nest / FastAPI / Express / Hono). Any other stack drops into a 3-question follow-up; migration continues.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65760" y="6199632"/>
            <a:ext cx="11460175" cy="329184"/>
          </a:xfrm>
          <a:prstGeom prst="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457200" y="6217920"/>
            <a:ext cx="11277295" cy="292608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/>
            <a:r>
              <a:rPr sz="1100" b="1" i="0">
                <a:solidFill>
                  <a:srgbClr val="FAFBFC"/>
                </a:solidFill>
                <a:latin typeface="Calibri"/>
              </a:rPr>
              <a:t>Installed in minutes from the marketplace.  The team has a working, end-to-end migration workflow the same day.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1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54864" cy="960120"/>
          </a:xfrm>
          <a:prstGeom prst="rect">
            <a:avLst/>
          </a:prstGeom>
          <a:solidFill>
            <a:srgbClr val="00C2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74320" y="91440"/>
            <a:ext cx="11704320" cy="50292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/>
            <a:r>
              <a:rPr sz="2600" b="0" i="0">
                <a:solidFill>
                  <a:srgbClr val="FAFBFC"/>
                </a:solidFill>
                <a:latin typeface="Segoe UI Semibold"/>
              </a:rPr>
              <a:t>Natural Language  &amp;  Pluggable Framework Library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566928"/>
            <a:ext cx="11704320" cy="329184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200" b="0" i="1">
                <a:solidFill>
                  <a:srgbClr val="00C2CB"/>
                </a:solidFill>
                <a:latin typeface="Calibri"/>
              </a:rPr>
              <a:t>Two improvements in v0.10.0 that make the plugin easier to use and easier to extend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E6EC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274320" y="6620256"/>
            <a:ext cx="9875520" cy="219456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Calibri"/>
              </a:rPr>
              <a:t>web-modernize v0.15.0   ·   Balaji Harikrishnan   ·   Cognizant   ·   June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620256"/>
            <a:ext cx="777240" cy="219456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Segoe UI Semibold"/>
              </a:rPr>
              <a:t>03  /  13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188720"/>
            <a:ext cx="5632704" cy="384048"/>
          </a:xfrm>
          <a:prstGeom prst="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02920" y="1207008"/>
            <a:ext cx="5486400" cy="347472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/>
            <a:r>
              <a:rPr sz="1200" b="0" i="0">
                <a:solidFill>
                  <a:srgbClr val="FAFBFC"/>
                </a:solidFill>
                <a:latin typeface="Segoe UI Semibold"/>
              </a:rPr>
              <a:t>TALK TO IT NATURALLY   —   no slash commands required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1627632"/>
            <a:ext cx="5632704" cy="868680"/>
          </a:xfrm>
          <a:prstGeom prst="rect">
            <a:avLst/>
          </a:prstGeom>
          <a:solidFill>
            <a:srgbClr val="FAFBFC"/>
          </a:solidFill>
          <a:ln w="9525">
            <a:solidFill>
              <a:srgbClr val="1A56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02920" y="1673352"/>
            <a:ext cx="5358384" cy="795528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  <a:latin typeface="Calibri"/>
              </a:rPr>
              <a:t>Every skill's description now packs intent phrases + a lifecycle anchor. Claude's native skill matcher routes plain-English requests to the right command — developers stop memorising 18 slash commands.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2606040"/>
            <a:ext cx="2926080" cy="320040"/>
          </a:xfrm>
          <a:prstGeom prst="rect">
            <a:avLst/>
          </a:prstGeom>
          <a:solidFill>
            <a:srgbClr val="0D1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57200" y="2624328"/>
            <a:ext cx="2743200" cy="283464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/>
            <a:r>
              <a:rPr sz="1100" b="0" i="0">
                <a:solidFill>
                  <a:srgbClr val="FAFBFC"/>
                </a:solidFill>
                <a:latin typeface="Segoe UI Semibold"/>
              </a:rPr>
              <a:t>You type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291840" y="2606040"/>
            <a:ext cx="2706624" cy="320040"/>
          </a:xfrm>
          <a:prstGeom prst="rect">
            <a:avLst/>
          </a:prstGeom>
          <a:solidFill>
            <a:srgbClr val="0D1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3383280" y="2624328"/>
            <a:ext cx="2523744" cy="283464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/>
            <a:r>
              <a:rPr sz="1100" b="0" i="0">
                <a:solidFill>
                  <a:srgbClr val="FAFBFC"/>
                </a:solidFill>
                <a:latin typeface="Segoe UI Semibold"/>
              </a:rPr>
              <a:t>Skill that fires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926080"/>
            <a:ext cx="2926080" cy="32004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57200" y="2944368"/>
            <a:ext cx="2743200" cy="283464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/>
            <a:r>
              <a:rPr sz="1100" b="0" i="1">
                <a:solidFill>
                  <a:srgbClr val="1F2937"/>
                </a:solidFill>
                <a:latin typeface="Calibri"/>
              </a:rPr>
              <a:t>“what's next”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291840" y="2926080"/>
            <a:ext cx="2706624" cy="32004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3383280" y="2944368"/>
            <a:ext cx="2523744" cy="283464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/>
            <a:r>
              <a:rPr sz="1100" b="1" i="0">
                <a:solidFill>
                  <a:srgbClr val="1A56DB"/>
                </a:solidFill>
                <a:latin typeface="Consolas"/>
              </a:rPr>
              <a:t>/next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65760" y="3246120"/>
            <a:ext cx="2926080" cy="320040"/>
          </a:xfrm>
          <a:prstGeom prst="rect">
            <a:avLst/>
          </a:prstGeom>
          <a:solidFill>
            <a:srgbClr val="EB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457200" y="3264408"/>
            <a:ext cx="2743200" cy="283464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/>
            <a:r>
              <a:rPr sz="1100" b="0" i="1">
                <a:solidFill>
                  <a:srgbClr val="1F2937"/>
                </a:solidFill>
                <a:latin typeface="Calibri"/>
              </a:rPr>
              <a:t>“let's plan it”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291840" y="3246120"/>
            <a:ext cx="2706624" cy="320040"/>
          </a:xfrm>
          <a:prstGeom prst="rect">
            <a:avLst/>
          </a:prstGeom>
          <a:solidFill>
            <a:srgbClr val="EB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3383280" y="3264408"/>
            <a:ext cx="2523744" cy="283464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/>
            <a:r>
              <a:rPr sz="1100" b="1" i="0">
                <a:solidFill>
                  <a:srgbClr val="1A56DB"/>
                </a:solidFill>
                <a:latin typeface="Consolas"/>
              </a:rPr>
              <a:t>/plan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3566160"/>
            <a:ext cx="2926080" cy="32004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457200" y="3584448"/>
            <a:ext cx="2743200" cy="283464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/>
            <a:r>
              <a:rPr sz="1100" b="0" i="1">
                <a:solidFill>
                  <a:srgbClr val="1F2937"/>
                </a:solidFill>
                <a:latin typeface="Calibri"/>
              </a:rPr>
              <a:t>“where are we”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291840" y="3566160"/>
            <a:ext cx="2706624" cy="32004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3383280" y="3584448"/>
            <a:ext cx="2523744" cy="283464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/>
            <a:r>
              <a:rPr sz="1100" b="1" i="0">
                <a:solidFill>
                  <a:srgbClr val="1A56DB"/>
                </a:solidFill>
                <a:latin typeface="Consolas"/>
              </a:rPr>
              <a:t>/status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65760" y="3886200"/>
            <a:ext cx="2926080" cy="320040"/>
          </a:xfrm>
          <a:prstGeom prst="rect">
            <a:avLst/>
          </a:prstGeom>
          <a:solidFill>
            <a:srgbClr val="EB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457200" y="3904487"/>
            <a:ext cx="2743200" cy="283464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/>
            <a:r>
              <a:rPr sz="1100" b="0" i="1">
                <a:solidFill>
                  <a:srgbClr val="1F2937"/>
                </a:solidFill>
                <a:latin typeface="Calibri"/>
              </a:rPr>
              <a:t>“migrate the login page”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291840" y="3886200"/>
            <a:ext cx="2706624" cy="320040"/>
          </a:xfrm>
          <a:prstGeom prst="rect">
            <a:avLst/>
          </a:prstGeom>
          <a:solidFill>
            <a:srgbClr val="EB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3383280" y="3904487"/>
            <a:ext cx="2523744" cy="283464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/>
            <a:r>
              <a:rPr sz="1100" b="1" i="0">
                <a:solidFill>
                  <a:srgbClr val="1A56DB"/>
                </a:solidFill>
                <a:latin typeface="Consolas"/>
              </a:rPr>
              <a:t>/migrate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65760" y="4206240"/>
            <a:ext cx="2926080" cy="32004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457200" y="4224527"/>
            <a:ext cx="2743200" cy="283464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/>
            <a:r>
              <a:rPr sz="1100" b="0" i="1">
                <a:solidFill>
                  <a:srgbClr val="1F2937"/>
                </a:solidFill>
                <a:latin typeface="Calibri"/>
              </a:rPr>
              <a:t>“stuck lock”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291840" y="4206240"/>
            <a:ext cx="2706624" cy="32004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3383280" y="4224527"/>
            <a:ext cx="2523744" cy="283464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/>
            <a:r>
              <a:rPr sz="1100" b="1" i="0">
                <a:solidFill>
                  <a:srgbClr val="1A56DB"/>
                </a:solidFill>
                <a:latin typeface="Consolas"/>
              </a:rPr>
              <a:t>/unlock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65760" y="4526280"/>
            <a:ext cx="2926080" cy="320040"/>
          </a:xfrm>
          <a:prstGeom prst="rect">
            <a:avLst/>
          </a:prstGeom>
          <a:solidFill>
            <a:srgbClr val="EB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457200" y="4544568"/>
            <a:ext cx="2743200" cy="283464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/>
            <a:r>
              <a:rPr sz="1100" b="0" i="1">
                <a:solidFill>
                  <a:srgbClr val="1F2937"/>
                </a:solidFill>
                <a:latin typeface="Calibri"/>
              </a:rPr>
              <a:t>“start over”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291840" y="4526280"/>
            <a:ext cx="2706624" cy="320040"/>
          </a:xfrm>
          <a:prstGeom prst="rect">
            <a:avLst/>
          </a:prstGeom>
          <a:solidFill>
            <a:srgbClr val="EB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3383280" y="4544568"/>
            <a:ext cx="2523744" cy="283464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/>
            <a:r>
              <a:rPr sz="1100" b="1" i="0">
                <a:solidFill>
                  <a:srgbClr val="1A56DB"/>
                </a:solidFill>
                <a:latin typeface="Consolas"/>
              </a:rPr>
              <a:t>/abandon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190488" y="1188720"/>
            <a:ext cx="5632704" cy="384048"/>
          </a:xfrm>
          <a:prstGeom prst="rect">
            <a:avLst/>
          </a:prstGeom>
          <a:solidFill>
            <a:srgbClr val="00C2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6327648" y="1207008"/>
            <a:ext cx="5486400" cy="347472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/>
            <a:r>
              <a:rPr sz="1200" b="0" i="0">
                <a:solidFill>
                  <a:srgbClr val="FAFBFC"/>
                </a:solidFill>
                <a:latin typeface="Segoe UI Semibold"/>
              </a:rPr>
              <a:t>PLUGGABLE FRAMEWORKS   —   drop a file, get a new stack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190488" y="1627632"/>
            <a:ext cx="5632704" cy="868680"/>
          </a:xfrm>
          <a:prstGeom prst="rect">
            <a:avLst/>
          </a:prstGeom>
          <a:solidFill>
            <a:srgbClr val="FAFBFC"/>
          </a:solidFill>
          <a:ln w="9525">
            <a:solidFill>
              <a:srgbClr val="00C2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6327648" y="1673352"/>
            <a:ext cx="5358384" cy="795528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  <a:latin typeface="Calibri"/>
              </a:rPr>
              <a:t>31 frameworks/&lt;name&gt;.md files — one per supported stack — hold the recipes /scaffold, /foundation, and legacy-analyzer all read on demand. Adding a new framework is a one-file drop-in.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190488" y="2606040"/>
            <a:ext cx="2697480" cy="777240"/>
          </a:xfrm>
          <a:prstGeom prst="rect">
            <a:avLst/>
          </a:prstGeom>
          <a:solidFill>
            <a:srgbClr val="FAFBFC"/>
          </a:solidFill>
          <a:ln w="9525">
            <a:solidFill>
              <a:srgbClr val="00C2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Rectangle 46"/>
          <p:cNvSpPr/>
          <p:nvPr/>
        </p:nvSpPr>
        <p:spPr>
          <a:xfrm>
            <a:off x="6190488" y="2606040"/>
            <a:ext cx="731520" cy="777240"/>
          </a:xfrm>
          <a:prstGeom prst="rect">
            <a:avLst/>
          </a:prstGeom>
          <a:solidFill>
            <a:srgbClr val="00C2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6190488" y="2606040"/>
            <a:ext cx="731520" cy="77724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/>
            <a:r>
              <a:rPr sz="2800" b="0" i="0">
                <a:solidFill>
                  <a:srgbClr val="FAFBFC"/>
                </a:solidFill>
                <a:latin typeface="Segoe UI Semibold"/>
              </a:rPr>
              <a:t>17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013448" y="2651760"/>
            <a:ext cx="1783080" cy="68580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/>
            <a:r>
              <a:rPr sz="1000" b="0" i="0">
                <a:solidFill>
                  <a:srgbClr val="1F2937"/>
                </a:solidFill>
                <a:latin typeface="Calibri"/>
              </a:rPr>
              <a:t>Legacy source stacks auto-detected</a:t>
            </a:r>
          </a:p>
        </p:txBody>
      </p:sp>
      <p:sp>
        <p:nvSpPr>
          <p:cNvPr id="50" name="Rectangle 49"/>
          <p:cNvSpPr/>
          <p:nvPr/>
        </p:nvSpPr>
        <p:spPr>
          <a:xfrm>
            <a:off x="8979408" y="2606040"/>
            <a:ext cx="2697480" cy="777240"/>
          </a:xfrm>
          <a:prstGeom prst="rect">
            <a:avLst/>
          </a:prstGeom>
          <a:solidFill>
            <a:srgbClr val="FAFBFC"/>
          </a:solidFill>
          <a:ln w="9525">
            <a:solidFill>
              <a:srgbClr val="00C2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Rectangle 50"/>
          <p:cNvSpPr/>
          <p:nvPr/>
        </p:nvSpPr>
        <p:spPr>
          <a:xfrm>
            <a:off x="8979408" y="2606040"/>
            <a:ext cx="731520" cy="777240"/>
          </a:xfrm>
          <a:prstGeom prst="rect">
            <a:avLst/>
          </a:prstGeom>
          <a:solidFill>
            <a:srgbClr val="00C2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8979408" y="2606040"/>
            <a:ext cx="731520" cy="77724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/>
            <a:r>
              <a:rPr sz="2800" b="0" i="0">
                <a:solidFill>
                  <a:srgbClr val="FAFBFC"/>
                </a:solidFill>
                <a:latin typeface="Segoe UI Semibold"/>
              </a:rPr>
              <a:t>14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802368" y="2651760"/>
            <a:ext cx="1783080" cy="68580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/>
            <a:r>
              <a:rPr sz="1000" b="0" i="0">
                <a:solidFill>
                  <a:srgbClr val="1F2937"/>
                </a:solidFill>
                <a:latin typeface="Calibri"/>
              </a:rPr>
              <a:t>Modern targets with full scaffold recipes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190488" y="3474720"/>
            <a:ext cx="2697480" cy="777240"/>
          </a:xfrm>
          <a:prstGeom prst="rect">
            <a:avLst/>
          </a:prstGeom>
          <a:solidFill>
            <a:srgbClr val="FAFBFC"/>
          </a:solidFill>
          <a:ln w="9525">
            <a:solidFill>
              <a:srgbClr val="00C2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Rectangle 54"/>
          <p:cNvSpPr/>
          <p:nvPr/>
        </p:nvSpPr>
        <p:spPr>
          <a:xfrm>
            <a:off x="6190488" y="3474720"/>
            <a:ext cx="731520" cy="777240"/>
          </a:xfrm>
          <a:prstGeom prst="rect">
            <a:avLst/>
          </a:prstGeom>
          <a:solidFill>
            <a:srgbClr val="00C2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6190488" y="3474720"/>
            <a:ext cx="731520" cy="77724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/>
            <a:r>
              <a:rPr sz="2800" b="0" i="0">
                <a:solidFill>
                  <a:srgbClr val="FAFBFC"/>
                </a:solidFill>
                <a:latin typeface="Segoe UI Semibold"/>
              </a:rPr>
              <a:t>1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013448" y="3520439"/>
            <a:ext cx="1783080" cy="68580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/>
            <a:r>
              <a:rPr sz="1000" b="0" i="0">
                <a:solidFill>
                  <a:srgbClr val="1F2937"/>
                </a:solidFill>
                <a:latin typeface="Calibri"/>
              </a:rPr>
              <a:t>File to add a brand-new framework</a:t>
            </a:r>
          </a:p>
        </p:txBody>
      </p:sp>
      <p:sp>
        <p:nvSpPr>
          <p:cNvPr id="58" name="Rectangle 57"/>
          <p:cNvSpPr/>
          <p:nvPr/>
        </p:nvSpPr>
        <p:spPr>
          <a:xfrm>
            <a:off x="8979408" y="3474720"/>
            <a:ext cx="2697480" cy="777240"/>
          </a:xfrm>
          <a:prstGeom prst="rect">
            <a:avLst/>
          </a:prstGeom>
          <a:solidFill>
            <a:srgbClr val="FAFBFC"/>
          </a:solidFill>
          <a:ln w="9525">
            <a:solidFill>
              <a:srgbClr val="00C2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Rectangle 58"/>
          <p:cNvSpPr/>
          <p:nvPr/>
        </p:nvSpPr>
        <p:spPr>
          <a:xfrm>
            <a:off x="8979408" y="3474720"/>
            <a:ext cx="731520" cy="777240"/>
          </a:xfrm>
          <a:prstGeom prst="rect">
            <a:avLst/>
          </a:prstGeom>
          <a:solidFill>
            <a:srgbClr val="00C2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TextBox 59"/>
          <p:cNvSpPr txBox="1"/>
          <p:nvPr/>
        </p:nvSpPr>
        <p:spPr>
          <a:xfrm>
            <a:off x="8979408" y="3474720"/>
            <a:ext cx="731520" cy="77724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/>
            <a:r>
              <a:rPr sz="2800" b="0" i="0">
                <a:solidFill>
                  <a:srgbClr val="FAFBFC"/>
                </a:solidFill>
                <a:latin typeface="Segoe UI Semibold"/>
              </a:rPr>
              <a:t>0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802368" y="3520439"/>
            <a:ext cx="1783080" cy="68580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/>
            <a:r>
              <a:rPr sz="1000" b="0" i="0">
                <a:solidFill>
                  <a:srgbClr val="1F2937"/>
                </a:solidFill>
                <a:latin typeface="Calibri"/>
              </a:rPr>
              <a:t>Plugin code changes needed for the new framework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65760" y="4434840"/>
            <a:ext cx="11457432" cy="384048"/>
          </a:xfrm>
          <a:prstGeom prst="rect">
            <a:avLst/>
          </a:prstGeom>
          <a:solidFill>
            <a:srgbClr val="0D1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TextBox 62"/>
          <p:cNvSpPr txBox="1"/>
          <p:nvPr/>
        </p:nvSpPr>
        <p:spPr>
          <a:xfrm>
            <a:off x="502920" y="4453128"/>
            <a:ext cx="11247120" cy="347472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/>
            <a:r>
              <a:rPr sz="1200" b="0" i="0">
                <a:solidFill>
                  <a:srgbClr val="FAFBFC"/>
                </a:solidFill>
                <a:latin typeface="Segoe UI Semibold"/>
              </a:rPr>
              <a:t>UNKNOWN-TECH PATH   —   when the framework isn't in the library yet</a:t>
            </a:r>
          </a:p>
        </p:txBody>
      </p:sp>
      <p:sp>
        <p:nvSpPr>
          <p:cNvPr id="64" name="Rectangle 63"/>
          <p:cNvSpPr/>
          <p:nvPr/>
        </p:nvSpPr>
        <p:spPr>
          <a:xfrm>
            <a:off x="365760" y="4901184"/>
            <a:ext cx="3611880" cy="1280160"/>
          </a:xfrm>
          <a:prstGeom prst="rect">
            <a:avLst/>
          </a:prstGeom>
          <a:solidFill>
            <a:srgbClr val="FAFBFC"/>
          </a:solidFill>
          <a:ln w="9525">
            <a:solidFill>
              <a:srgbClr val="0D1B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Rectangle 64"/>
          <p:cNvSpPr/>
          <p:nvPr/>
        </p:nvSpPr>
        <p:spPr>
          <a:xfrm>
            <a:off x="365760" y="4901184"/>
            <a:ext cx="3611880" cy="292608"/>
          </a:xfrm>
          <a:prstGeom prst="rect">
            <a:avLst/>
          </a:prstGeom>
          <a:solidFill>
            <a:srgbClr val="0D1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TextBox 65"/>
          <p:cNvSpPr txBox="1"/>
          <p:nvPr/>
        </p:nvSpPr>
        <p:spPr>
          <a:xfrm>
            <a:off x="457200" y="4919472"/>
            <a:ext cx="3429000" cy="27432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/>
            <a:r>
              <a:rPr sz="1200" b="1" i="0">
                <a:solidFill>
                  <a:srgbClr val="FAFBFC"/>
                </a:solidFill>
                <a:latin typeface="Calibri"/>
              </a:rPr>
              <a:t>Source unknown?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75488" y="5266944"/>
            <a:ext cx="3392424" cy="841247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000" b="0" i="0">
                <a:solidFill>
                  <a:srgbClr val="1F2937"/>
                </a:solidFill>
                <a:latin typeface="Calibri"/>
              </a:rPr>
              <a:t>/analyze shows the raw evidence (file extensions, library refs, build files) and asks you to name the stack. Migration continues with the user-supplied name.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288536" y="4901184"/>
            <a:ext cx="3611880" cy="1280160"/>
          </a:xfrm>
          <a:prstGeom prst="rect">
            <a:avLst/>
          </a:prstGeom>
          <a:solidFill>
            <a:srgbClr val="FAFBFC"/>
          </a:solidFill>
          <a:ln w="9525">
            <a:solidFill>
              <a:srgbClr val="0D1B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9" name="Rectangle 68"/>
          <p:cNvSpPr/>
          <p:nvPr/>
        </p:nvSpPr>
        <p:spPr>
          <a:xfrm>
            <a:off x="4288536" y="4901184"/>
            <a:ext cx="3611880" cy="292608"/>
          </a:xfrm>
          <a:prstGeom prst="rect">
            <a:avLst/>
          </a:prstGeom>
          <a:solidFill>
            <a:srgbClr val="0D1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0" name="TextBox 69"/>
          <p:cNvSpPr txBox="1"/>
          <p:nvPr/>
        </p:nvSpPr>
        <p:spPr>
          <a:xfrm>
            <a:off x="4379976" y="4919472"/>
            <a:ext cx="3429000" cy="27432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/>
            <a:r>
              <a:rPr sz="1200" b="1" i="0">
                <a:solidFill>
                  <a:srgbClr val="FAFBFC"/>
                </a:solidFill>
                <a:latin typeface="Calibri"/>
              </a:rPr>
              <a:t>Target unknown?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4398264" y="5266944"/>
            <a:ext cx="3392424" cy="841247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000" b="0" i="0">
                <a:solidFill>
                  <a:srgbClr val="1F2937"/>
                </a:solidFill>
                <a:latin typeface="Calibri"/>
              </a:rPr>
              <a:t>/scaffold asks 3 questions: scaffold command, test framework, verify commands. Answers persist in verify.config.json so retries don't re-ask.</a:t>
            </a:r>
          </a:p>
        </p:txBody>
      </p:sp>
      <p:sp>
        <p:nvSpPr>
          <p:cNvPr id="72" name="Rectangle 71"/>
          <p:cNvSpPr/>
          <p:nvPr/>
        </p:nvSpPr>
        <p:spPr>
          <a:xfrm>
            <a:off x="8211312" y="4901184"/>
            <a:ext cx="3611880" cy="1280160"/>
          </a:xfrm>
          <a:prstGeom prst="rect">
            <a:avLst/>
          </a:prstGeom>
          <a:solidFill>
            <a:srgbClr val="FAFBFC"/>
          </a:solidFill>
          <a:ln w="9525">
            <a:solidFill>
              <a:srgbClr val="0D1B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3" name="Rectangle 72"/>
          <p:cNvSpPr/>
          <p:nvPr/>
        </p:nvSpPr>
        <p:spPr>
          <a:xfrm>
            <a:off x="8211312" y="4901184"/>
            <a:ext cx="3611880" cy="292608"/>
          </a:xfrm>
          <a:prstGeom prst="rect">
            <a:avLst/>
          </a:prstGeom>
          <a:solidFill>
            <a:srgbClr val="0D1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4" name="TextBox 73"/>
          <p:cNvSpPr txBox="1"/>
          <p:nvPr/>
        </p:nvSpPr>
        <p:spPr>
          <a:xfrm>
            <a:off x="8302752" y="4919472"/>
            <a:ext cx="3429000" cy="27432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/>
            <a:r>
              <a:rPr sz="1200" b="1" i="0">
                <a:solidFill>
                  <a:srgbClr val="FAFBFC"/>
                </a:solidFill>
                <a:latin typeface="Calibri"/>
              </a:rPr>
              <a:t>Auth unknown?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8321040" y="5266944"/>
            <a:ext cx="3392424" cy="841247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000" b="0" i="0">
                <a:solidFill>
                  <a:srgbClr val="1F2937"/>
                </a:solidFill>
                <a:latin typeface="Calibri"/>
              </a:rPr>
              <a:t>/foundation skips the prebuilt password-hashing template, defers to permanent-gotchas + OWASP guidance. Auth migration completes; the team supplies code.</a:t>
            </a:r>
          </a:p>
        </p:txBody>
      </p:sp>
      <p:sp>
        <p:nvSpPr>
          <p:cNvPr id="76" name="Rectangle 75"/>
          <p:cNvSpPr/>
          <p:nvPr/>
        </p:nvSpPr>
        <p:spPr>
          <a:xfrm>
            <a:off x="365760" y="6327648"/>
            <a:ext cx="11460175" cy="219456"/>
          </a:xfrm>
          <a:prstGeom prst="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7" name="TextBox 76"/>
          <p:cNvSpPr txBox="1"/>
          <p:nvPr/>
        </p:nvSpPr>
        <p:spPr>
          <a:xfrm>
            <a:off x="457200" y="6336792"/>
            <a:ext cx="11277295" cy="201168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/>
            <a:r>
              <a:rPr sz="1100" b="1" i="0">
                <a:solidFill>
                  <a:srgbClr val="FAFBFC"/>
                </a:solidFill>
                <a:latin typeface="Calibri"/>
              </a:rPr>
              <a:t>Friendlier to onboarding.  Quieter when the right answer is obvious.  Never stuck on an unsupported stack.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1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54864" cy="960120"/>
          </a:xfrm>
          <a:prstGeom prst="rect">
            <a:avLst/>
          </a:prstGeom>
          <a:solidFill>
            <a:srgbClr val="00C2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74320" y="91440"/>
            <a:ext cx="11704320" cy="50292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/>
            <a:r>
              <a:rPr sz="2600" b="0" i="0">
                <a:solidFill>
                  <a:srgbClr val="FAFBFC"/>
                </a:solidFill>
                <a:latin typeface="Segoe UI Semibold"/>
              </a:rPr>
              <a:t>Why We Need This Plugin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566928"/>
            <a:ext cx="11704320" cy="329184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200" b="0" i="1">
                <a:solidFill>
                  <a:srgbClr val="00C2CB"/>
                </a:solidFill>
                <a:latin typeface="Calibri"/>
              </a:rPr>
              <a:t>Ad-hoc AI prompting and one-off tooling don't scale to enterprise modernization — six things the plugin adds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E6EC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274320" y="6620256"/>
            <a:ext cx="9875520" cy="219456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Calibri"/>
              </a:rPr>
              <a:t>web-modernize v0.15.0   ·   Balaji Harikrishnan   ·   Cognizant   ·   June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620256"/>
            <a:ext cx="777240" cy="219456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Segoe UI Semibold"/>
              </a:rPr>
              <a:t>05  /  13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188720"/>
            <a:ext cx="3694176" cy="2240280"/>
          </a:xfrm>
          <a:prstGeom prst="rect">
            <a:avLst/>
          </a:prstGeom>
          <a:solidFill>
            <a:srgbClr val="FAFBFC"/>
          </a:solidFill>
          <a:ln w="9525">
            <a:solidFill>
              <a:srgbClr val="1A56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365760" y="1188720"/>
            <a:ext cx="73152" cy="2240280"/>
          </a:xfrm>
          <a:prstGeom prst="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66928" y="1353312"/>
            <a:ext cx="338328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400" b="1" i="0">
                <a:solidFill>
                  <a:srgbClr val="1A56DB"/>
                </a:solidFill>
                <a:latin typeface="Calibri"/>
              </a:rPr>
              <a:t>Enforced consistency across the team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1828800"/>
            <a:ext cx="3383280" cy="14630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200" b="0" i="0">
                <a:solidFill>
                  <a:srgbClr val="1F2937"/>
                </a:solidFill>
                <a:latin typeface="Calibri"/>
              </a:rPr>
              <a:t>One workflow, one set of conventions, one quality bar. Every developer produces the same shape of output instead of inventing their own prompt style.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242816" y="1188720"/>
            <a:ext cx="3694176" cy="2240280"/>
          </a:xfrm>
          <a:prstGeom prst="rect">
            <a:avLst/>
          </a:prstGeom>
          <a:solidFill>
            <a:srgbClr val="FAFBFC"/>
          </a:solidFill>
          <a:ln w="9525">
            <a:solidFill>
              <a:srgbClr val="1A56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4242816" y="1188720"/>
            <a:ext cx="73152" cy="2240280"/>
          </a:xfrm>
          <a:prstGeom prst="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443984" y="1353312"/>
            <a:ext cx="338328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400" b="1" i="0">
                <a:solidFill>
                  <a:srgbClr val="1A56DB"/>
                </a:solidFill>
                <a:latin typeface="Calibri"/>
              </a:rPr>
              <a:t>Durable progress ledger in git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984" y="1828800"/>
            <a:ext cx="3383280" cy="14630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200" b="0" i="0">
                <a:solidFill>
                  <a:srgbClr val="1F2937"/>
                </a:solidFill>
                <a:latin typeface="Calibri"/>
              </a:rPr>
              <a:t>Who did what, what is done, what is left — all tracked. Direct prompting forgets everything when the session ends; the plugin remembers across days and developers.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119872" y="1188720"/>
            <a:ext cx="3694176" cy="2240280"/>
          </a:xfrm>
          <a:prstGeom prst="rect">
            <a:avLst/>
          </a:prstGeom>
          <a:solidFill>
            <a:srgbClr val="FAFBFC"/>
          </a:solidFill>
          <a:ln w="9525">
            <a:solidFill>
              <a:srgbClr val="1A56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8119872" y="1188720"/>
            <a:ext cx="73152" cy="2240280"/>
          </a:xfrm>
          <a:prstGeom prst="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321040" y="1353312"/>
            <a:ext cx="338328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400" b="1" i="0">
                <a:solidFill>
                  <a:srgbClr val="1A56DB"/>
                </a:solidFill>
                <a:latin typeface="Calibri"/>
              </a:rPr>
              <a:t>Project context captured once, used everywhere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21040" y="1828800"/>
            <a:ext cx="3383280" cy="14630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200" b="0" i="0">
                <a:solidFill>
                  <a:srgbClr val="1F2937"/>
                </a:solidFill>
                <a:latin typeface="Calibri"/>
              </a:rPr>
              <a:t>Legacy stack, target stack, conventions, and constraints live in migration.md. No re-explaining the project on every prompt to every developer.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65760" y="3611880"/>
            <a:ext cx="3694176" cy="2240280"/>
          </a:xfrm>
          <a:prstGeom prst="rect">
            <a:avLst/>
          </a:prstGeom>
          <a:solidFill>
            <a:srgbClr val="FAFBFC"/>
          </a:solidFill>
          <a:ln w="9525">
            <a:solidFill>
              <a:srgbClr val="1A56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365760" y="3611880"/>
            <a:ext cx="73152" cy="2240280"/>
          </a:xfrm>
          <a:prstGeom prst="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566928" y="3776472"/>
            <a:ext cx="338328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400" b="1" i="0">
                <a:solidFill>
                  <a:srgbClr val="1A56DB"/>
                </a:solidFill>
                <a:latin typeface="Calibri"/>
              </a:rPr>
              <a:t>Verification gate that cannot be skipped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66928" y="4251960"/>
            <a:ext cx="3383280" cy="14630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200" b="0" i="0">
                <a:solidFill>
                  <a:srgbClr val="1F2937"/>
                </a:solidFill>
                <a:latin typeface="Calibri"/>
              </a:rPr>
              <a:t>Every unit must pass lint, type-check, and tests before it counts as done. Quality is enforced by the workflow, not remembered by the developer.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242816" y="3611880"/>
            <a:ext cx="3694176" cy="2240280"/>
          </a:xfrm>
          <a:prstGeom prst="rect">
            <a:avLst/>
          </a:prstGeom>
          <a:solidFill>
            <a:srgbClr val="FAFBFC"/>
          </a:solidFill>
          <a:ln w="9525">
            <a:solidFill>
              <a:srgbClr val="1A56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4242816" y="3611880"/>
            <a:ext cx="73152" cy="2240280"/>
          </a:xfrm>
          <a:prstGeom prst="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4443984" y="3776472"/>
            <a:ext cx="338328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400" b="1" i="0">
                <a:solidFill>
                  <a:srgbClr val="1A56DB"/>
                </a:solidFill>
                <a:latin typeface="Calibri"/>
              </a:rPr>
              <a:t>Team-aware coordination at scale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43984" y="4251960"/>
            <a:ext cx="3383280" cy="14630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200" b="0" i="0">
                <a:solidFill>
                  <a:srgbClr val="1F2937"/>
                </a:solidFill>
                <a:latin typeface="Calibri"/>
              </a:rPr>
              <a:t>Backlog, real-time kanban, per-unit git layout, deterministic merge rules. 20+ developers can migrate in parallel without colliding or duplicating work.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119872" y="3611880"/>
            <a:ext cx="3694176" cy="2240280"/>
          </a:xfrm>
          <a:prstGeom prst="rect">
            <a:avLst/>
          </a:prstGeom>
          <a:solidFill>
            <a:srgbClr val="FAFBFC"/>
          </a:solidFill>
          <a:ln w="9525">
            <a:solidFill>
              <a:srgbClr val="1A56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8119872" y="3611880"/>
            <a:ext cx="73152" cy="2240280"/>
          </a:xfrm>
          <a:prstGeom prst="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8321040" y="3776472"/>
            <a:ext cx="338328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400" b="1" i="0">
                <a:solidFill>
                  <a:srgbClr val="1A56DB"/>
                </a:solidFill>
                <a:latin typeface="Calibri"/>
              </a:rPr>
              <a:t>Built-in rollback and audit trail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21040" y="4251960"/>
            <a:ext cx="3383280" cy="14630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200" b="0" i="0">
                <a:solidFill>
                  <a:srgbClr val="1F2937"/>
                </a:solidFill>
                <a:latin typeface="Calibri"/>
              </a:rPr>
              <a:t>Every attempt, failure, and retry is recorded. One command (/rollback) reverts a unit cleanly. Direct prompting leaves you stranded when something breaks in production.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65760" y="6172200"/>
            <a:ext cx="11460175" cy="365760"/>
          </a:xfrm>
          <a:prstGeom prst="rect">
            <a:avLst/>
          </a:prstGeom>
          <a:solidFill>
            <a:srgbClr val="0D1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457200" y="6199632"/>
            <a:ext cx="11277295" cy="310896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/>
            <a:r>
              <a:rPr sz="1200" b="1" i="0">
                <a:solidFill>
                  <a:srgbClr val="FAFBFC"/>
                </a:solidFill>
                <a:latin typeface="Calibri"/>
              </a:rPr>
              <a:t>The plugin turns  'ask Claude to migrate this'  into a repeatable, auditable, team-scale engineering process.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1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54864" cy="960120"/>
          </a:xfrm>
          <a:prstGeom prst="rect">
            <a:avLst/>
          </a:prstGeom>
          <a:solidFill>
            <a:srgbClr val="00C2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74320" y="91440"/>
            <a:ext cx="11704320" cy="50292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/>
            <a:r>
              <a:rPr sz="2600" b="0" i="0">
                <a:solidFill>
                  <a:srgbClr val="FAFBFC"/>
                </a:solidFill>
                <a:latin typeface="Segoe UI Semibold"/>
              </a:rPr>
              <a:t>What the Plugin Adds to Claude Code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566928"/>
            <a:ext cx="11704320" cy="329184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200" b="0" i="1">
                <a:solidFill>
                  <a:srgbClr val="00C2CB"/>
                </a:solidFill>
                <a:latin typeface="Calibri"/>
              </a:rPr>
              <a:t>Every developer already has Claude Code — here is what changes when you add web-modernize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E6EC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274320" y="6620256"/>
            <a:ext cx="9875520" cy="219456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Calibri"/>
              </a:rPr>
              <a:t>web-modernize v0.15.0   ·   Balaji Harikrishnan   ·   Cognizant   ·   June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620256"/>
            <a:ext cx="777240" cy="219456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Segoe UI Semibold"/>
              </a:rPr>
              <a:t>04  /  13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188720"/>
            <a:ext cx="2062831" cy="548640"/>
          </a:xfrm>
          <a:prstGeom prst="rect">
            <a:avLst/>
          </a:prstGeom>
          <a:solidFill>
            <a:srgbClr val="0D1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57200" y="1225296"/>
            <a:ext cx="1879951" cy="475488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/>
            <a:r>
              <a:rPr sz="1300" b="0" i="0">
                <a:solidFill>
                  <a:srgbClr val="FAFBFC"/>
                </a:solidFill>
                <a:latin typeface="Segoe UI Semibold"/>
              </a:rPr>
              <a:t>Category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428591" y="1188720"/>
            <a:ext cx="4698671" cy="548640"/>
          </a:xfrm>
          <a:prstGeom prst="rect">
            <a:avLst/>
          </a:prstGeom>
          <a:solidFill>
            <a:srgbClr val="6B72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2520031" y="1225296"/>
            <a:ext cx="4515791" cy="475488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/>
            <a:r>
              <a:rPr sz="1300" b="0" i="0">
                <a:solidFill>
                  <a:srgbClr val="FAFBFC"/>
                </a:solidFill>
                <a:latin typeface="Segoe UI Semibold"/>
              </a:rPr>
              <a:t>Without the plugin   (raw Claude Code)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127263" y="1188720"/>
            <a:ext cx="4698671" cy="548640"/>
          </a:xfrm>
          <a:prstGeom prst="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218703" y="1225296"/>
            <a:ext cx="4515791" cy="475488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/>
            <a:r>
              <a:rPr sz="1300" b="0" i="0">
                <a:solidFill>
                  <a:srgbClr val="FAFBFC"/>
                </a:solidFill>
                <a:latin typeface="Segoe UI Semibold"/>
              </a:rPr>
              <a:t>With   web-modernize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1737360"/>
            <a:ext cx="2062831" cy="54864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75488" y="1783080"/>
            <a:ext cx="1843375" cy="45720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/>
            <a:r>
              <a:rPr sz="1200" b="1" i="0">
                <a:solidFill>
                  <a:srgbClr val="0D1B2A"/>
                </a:solidFill>
                <a:latin typeface="Calibri"/>
              </a:rPr>
              <a:t>Setup ergonomics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428591" y="1737360"/>
            <a:ext cx="4698671" cy="54864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2565751" y="1810512"/>
            <a:ext cx="4424351" cy="402336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Calibri"/>
              </a:rPr>
              <a:t>Developer hand-edits a config file: which target framework? which strategy? which auth? Easy to miss a field, no validation until later.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127263" y="1737360"/>
            <a:ext cx="4698671" cy="548640"/>
          </a:xfrm>
          <a:prstGeom prst="rect">
            <a:avLst/>
          </a:prstGeom>
          <a:solidFill>
            <a:srgbClr val="EBF2FF"/>
          </a:solidFill>
          <a:ln w="9525">
            <a:solidFill>
              <a:srgbClr val="1A56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7264423" y="1810512"/>
            <a:ext cx="4424351" cy="402336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  <a:latin typeface="Calibri"/>
              </a:rPr>
              <a:t>/analyze walks the team through every required choice with stack-aware recommendations — pick from a list, the plugin writes the config.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65760" y="2286000"/>
            <a:ext cx="2062831" cy="54864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475488" y="2331720"/>
            <a:ext cx="1843375" cy="45720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/>
            <a:r>
              <a:rPr sz="1200" b="1" i="0">
                <a:solidFill>
                  <a:srgbClr val="0D1B2A"/>
                </a:solidFill>
                <a:latin typeface="Calibri"/>
              </a:rPr>
              <a:t>Tool discovery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428591" y="2286000"/>
            <a:ext cx="4698671" cy="548640"/>
          </a:xfrm>
          <a:prstGeom prst="rect">
            <a:avLst/>
          </a:prstGeom>
          <a:solidFill>
            <a:srgbClr val="E6EC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2565751" y="2359152"/>
            <a:ext cx="4424351" cy="402336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Calibri"/>
              </a:rPr>
              <a:t>Developer memorises slash commands or hunts through docs — 'what was the command to retry a failed unit again?'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127263" y="2286000"/>
            <a:ext cx="4698671" cy="548640"/>
          </a:xfrm>
          <a:prstGeom prst="rect">
            <a:avLst/>
          </a:prstGeom>
          <a:solidFill>
            <a:srgbClr val="EBF2FF"/>
          </a:solidFill>
          <a:ln w="9525">
            <a:solidFill>
              <a:srgbClr val="1A56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7264423" y="2359152"/>
            <a:ext cx="4424351" cy="402336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  <a:latin typeface="Calibri"/>
              </a:rPr>
              <a:t>Type plain English — 'what's next', 'let's plan', 'stuck lock' — and the right skill auto-fires. No memorisation.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65760" y="2834640"/>
            <a:ext cx="2062831" cy="54864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475488" y="2880360"/>
            <a:ext cx="1843375" cy="45720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/>
            <a:r>
              <a:rPr sz="1200" b="1" i="0">
                <a:solidFill>
                  <a:srgbClr val="0D1B2A"/>
                </a:solidFill>
                <a:latin typeface="Calibri"/>
              </a:rPr>
              <a:t>Defining the work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428591" y="2834640"/>
            <a:ext cx="4698671" cy="54864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2565751" y="2907792"/>
            <a:ext cx="4424351" cy="402336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Calibri"/>
              </a:rPr>
              <a:t>Each developer decides what to migrate next based on chat or a shared doc — no sized backlog.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127263" y="2834640"/>
            <a:ext cx="4698671" cy="548640"/>
          </a:xfrm>
          <a:prstGeom prst="rect">
            <a:avLst/>
          </a:prstGeom>
          <a:solidFill>
            <a:srgbClr val="EBF2FF"/>
          </a:solidFill>
          <a:ln w="9525">
            <a:solidFill>
              <a:srgbClr val="1A56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7264423" y="2907792"/>
            <a:ext cx="4424351" cy="402336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  <a:latin typeface="Calibri"/>
              </a:rPr>
              <a:t>/plan generates a sized, dependency-ordered backlog — every unit is estimable and assignable.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65760" y="3383280"/>
            <a:ext cx="2062831" cy="54864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475488" y="3429000"/>
            <a:ext cx="1843375" cy="45720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/>
            <a:r>
              <a:rPr sz="1200" b="1" i="0">
                <a:solidFill>
                  <a:srgbClr val="0D1B2A"/>
                </a:solidFill>
                <a:latin typeface="Calibri"/>
              </a:rPr>
              <a:t>Project context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428591" y="3383280"/>
            <a:ext cx="4698671" cy="548640"/>
          </a:xfrm>
          <a:prstGeom prst="rect">
            <a:avLst/>
          </a:prstGeom>
          <a:solidFill>
            <a:srgbClr val="E6EC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2565751" y="3456432"/>
            <a:ext cx="4424351" cy="402336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Calibri"/>
              </a:rPr>
              <a:t>Re-explain the legacy stack, target stack, and conventions on every prompt and every new session.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127263" y="3383280"/>
            <a:ext cx="4698671" cy="548640"/>
          </a:xfrm>
          <a:prstGeom prst="rect">
            <a:avLst/>
          </a:prstGeom>
          <a:solidFill>
            <a:srgbClr val="EBF2FF"/>
          </a:solidFill>
          <a:ln w="9525">
            <a:solidFill>
              <a:srgbClr val="1A56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7264423" y="3456432"/>
            <a:ext cx="4424351" cy="402336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  <a:latin typeface="Calibri"/>
              </a:rPr>
              <a:t>Captured once in migration.md — every command reads it automatically, every developer stays aligned.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931920"/>
            <a:ext cx="2062831" cy="54864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475488" y="3977640"/>
            <a:ext cx="1843375" cy="45720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/>
            <a:r>
              <a:rPr sz="1200" b="1" i="0">
                <a:solidFill>
                  <a:srgbClr val="0D1B2A"/>
                </a:solidFill>
                <a:latin typeface="Calibri"/>
              </a:rPr>
              <a:t>Team coordination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428591" y="3931920"/>
            <a:ext cx="4698671" cy="54864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2565751" y="4005072"/>
            <a:ext cx="4424351" cy="402336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Calibri"/>
              </a:rPr>
              <a:t>20+ developers prompting in parallel produce merge conflicts and silently duplicated work.</a:t>
            </a:r>
          </a:p>
        </p:txBody>
      </p:sp>
      <p:sp>
        <p:nvSpPr>
          <p:cNvPr id="44" name="Rectangle 43"/>
          <p:cNvSpPr/>
          <p:nvPr/>
        </p:nvSpPr>
        <p:spPr>
          <a:xfrm>
            <a:off x="7127263" y="3931920"/>
            <a:ext cx="4698671" cy="548640"/>
          </a:xfrm>
          <a:prstGeom prst="rect">
            <a:avLst/>
          </a:prstGeom>
          <a:solidFill>
            <a:srgbClr val="EBF2FF"/>
          </a:solidFill>
          <a:ln w="9525">
            <a:solidFill>
              <a:srgbClr val="1A56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7264423" y="4005072"/>
            <a:ext cx="4424351" cy="402336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  <a:latin typeface="Calibri"/>
              </a:rPr>
              <a:t>Per-unit git files mean Alice and Bob's work touch zero shared files — conflict-free by design.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65760" y="4480560"/>
            <a:ext cx="2062831" cy="54864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475488" y="4526280"/>
            <a:ext cx="1843375" cy="45720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/>
            <a:r>
              <a:rPr sz="1200" b="1" i="0">
                <a:solidFill>
                  <a:srgbClr val="0D1B2A"/>
                </a:solidFill>
                <a:latin typeface="Calibri"/>
              </a:rPr>
              <a:t>Quality assurance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428591" y="4480560"/>
            <a:ext cx="4698671" cy="548640"/>
          </a:xfrm>
          <a:prstGeom prst="rect">
            <a:avLst/>
          </a:prstGeom>
          <a:solidFill>
            <a:srgbClr val="E6EC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2565751" y="4553712"/>
            <a:ext cx="4424351" cy="402336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Calibri"/>
              </a:rPr>
              <a:t>Verification is whatever the developer remembers to run — lint, types, tests can be skipped.</a:t>
            </a:r>
          </a:p>
        </p:txBody>
      </p:sp>
      <p:sp>
        <p:nvSpPr>
          <p:cNvPr id="50" name="Rectangle 49"/>
          <p:cNvSpPr/>
          <p:nvPr/>
        </p:nvSpPr>
        <p:spPr>
          <a:xfrm>
            <a:off x="7127263" y="4480560"/>
            <a:ext cx="4698671" cy="548640"/>
          </a:xfrm>
          <a:prstGeom prst="rect">
            <a:avLst/>
          </a:prstGeom>
          <a:solidFill>
            <a:srgbClr val="EBF2FF"/>
          </a:solidFill>
          <a:ln w="9525">
            <a:solidFill>
              <a:srgbClr val="1A56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7264423" y="4553712"/>
            <a:ext cx="4424351" cy="402336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  <a:latin typeface="Calibri"/>
              </a:rPr>
              <a:t>/verify enforces lint, type-check, tests, and a behavioural-parity check as a hard gate before a unit is marked done.</a:t>
            </a:r>
          </a:p>
        </p:txBody>
      </p:sp>
      <p:sp>
        <p:nvSpPr>
          <p:cNvPr id="52" name="Rectangle 51"/>
          <p:cNvSpPr/>
          <p:nvPr/>
        </p:nvSpPr>
        <p:spPr>
          <a:xfrm>
            <a:off x="365760" y="5029200"/>
            <a:ext cx="2062831" cy="54864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475488" y="5074920"/>
            <a:ext cx="1843375" cy="45720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/>
            <a:r>
              <a:rPr sz="1200" b="1" i="0">
                <a:solidFill>
                  <a:srgbClr val="0D1B2A"/>
                </a:solidFill>
                <a:latin typeface="Calibri"/>
              </a:rPr>
              <a:t>Failure recovery</a:t>
            </a:r>
          </a:p>
        </p:txBody>
      </p:sp>
      <p:sp>
        <p:nvSpPr>
          <p:cNvPr id="54" name="Rectangle 53"/>
          <p:cNvSpPr/>
          <p:nvPr/>
        </p:nvSpPr>
        <p:spPr>
          <a:xfrm>
            <a:off x="2428591" y="5029200"/>
            <a:ext cx="4698671" cy="54864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TextBox 54"/>
          <p:cNvSpPr txBox="1"/>
          <p:nvPr/>
        </p:nvSpPr>
        <p:spPr>
          <a:xfrm>
            <a:off x="2565751" y="5102352"/>
            <a:ext cx="4424351" cy="402336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Calibri"/>
              </a:rPr>
              <a:t>A failed migration leaves broken files behind — recovery is manual git surgery, no audit trail.</a:t>
            </a:r>
          </a:p>
        </p:txBody>
      </p:sp>
      <p:sp>
        <p:nvSpPr>
          <p:cNvPr id="56" name="Rectangle 55"/>
          <p:cNvSpPr/>
          <p:nvPr/>
        </p:nvSpPr>
        <p:spPr>
          <a:xfrm>
            <a:off x="7127263" y="5029200"/>
            <a:ext cx="4698671" cy="548640"/>
          </a:xfrm>
          <a:prstGeom prst="rect">
            <a:avLst/>
          </a:prstGeom>
          <a:solidFill>
            <a:srgbClr val="EBF2FF"/>
          </a:solidFill>
          <a:ln w="9525">
            <a:solidFill>
              <a:srgbClr val="1A56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TextBox 56"/>
          <p:cNvSpPr txBox="1"/>
          <p:nvPr/>
        </p:nvSpPr>
        <p:spPr>
          <a:xfrm>
            <a:off x="7264423" y="5102352"/>
            <a:ext cx="4424351" cy="402336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  <a:latin typeface="Calibri"/>
              </a:rPr>
              <a:t>/rollback reverts a unit cleanly in one command; /retry preserves every diagnostic for review.</a:t>
            </a:r>
          </a:p>
        </p:txBody>
      </p:sp>
      <p:sp>
        <p:nvSpPr>
          <p:cNvPr id="58" name="Rectangle 57"/>
          <p:cNvSpPr/>
          <p:nvPr/>
        </p:nvSpPr>
        <p:spPr>
          <a:xfrm>
            <a:off x="365760" y="5577840"/>
            <a:ext cx="2062831" cy="54864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TextBox 58"/>
          <p:cNvSpPr txBox="1"/>
          <p:nvPr/>
        </p:nvSpPr>
        <p:spPr>
          <a:xfrm>
            <a:off x="475488" y="5623560"/>
            <a:ext cx="1843375" cy="45720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/>
            <a:r>
              <a:rPr sz="1200" b="1" i="0">
                <a:solidFill>
                  <a:srgbClr val="0D1B2A"/>
                </a:solidFill>
                <a:latin typeface="Calibri"/>
              </a:rPr>
              <a:t>Leadership reporting</a:t>
            </a:r>
          </a:p>
        </p:txBody>
      </p:sp>
      <p:sp>
        <p:nvSpPr>
          <p:cNvPr id="60" name="Rectangle 59"/>
          <p:cNvSpPr/>
          <p:nvPr/>
        </p:nvSpPr>
        <p:spPr>
          <a:xfrm>
            <a:off x="2428591" y="5577840"/>
            <a:ext cx="4698671" cy="548640"/>
          </a:xfrm>
          <a:prstGeom prst="rect">
            <a:avLst/>
          </a:prstGeom>
          <a:solidFill>
            <a:srgbClr val="E6EC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TextBox 60"/>
          <p:cNvSpPr txBox="1"/>
          <p:nvPr/>
        </p:nvSpPr>
        <p:spPr>
          <a:xfrm>
            <a:off x="2565751" y="5650992"/>
            <a:ext cx="4424351" cy="402336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Calibri"/>
              </a:rPr>
              <a:t>Progress lives in chat and spreadsheets — burndown is manual, ETA is a guess, risks are anecdotal.</a:t>
            </a:r>
          </a:p>
        </p:txBody>
      </p:sp>
      <p:sp>
        <p:nvSpPr>
          <p:cNvPr id="62" name="Rectangle 61"/>
          <p:cNvSpPr/>
          <p:nvPr/>
        </p:nvSpPr>
        <p:spPr>
          <a:xfrm>
            <a:off x="7127263" y="5577840"/>
            <a:ext cx="4698671" cy="548640"/>
          </a:xfrm>
          <a:prstGeom prst="rect">
            <a:avLst/>
          </a:prstGeom>
          <a:solidFill>
            <a:srgbClr val="EBF2FF"/>
          </a:solidFill>
          <a:ln w="9525">
            <a:solidFill>
              <a:srgbClr val="1A56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TextBox 62"/>
          <p:cNvSpPr txBox="1"/>
          <p:nvPr/>
        </p:nvSpPr>
        <p:spPr>
          <a:xfrm>
            <a:off x="7264423" y="5650992"/>
            <a:ext cx="4424351" cy="402336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  <a:latin typeface="Calibri"/>
              </a:rPr>
              <a:t>/report generates burndown, velocity, and ETA from git state — always accurate, no upkeep.</a:t>
            </a:r>
          </a:p>
        </p:txBody>
      </p:sp>
      <p:sp>
        <p:nvSpPr>
          <p:cNvPr id="64" name="Rectangle 63"/>
          <p:cNvSpPr/>
          <p:nvPr/>
        </p:nvSpPr>
        <p:spPr>
          <a:xfrm>
            <a:off x="365760" y="6199632"/>
            <a:ext cx="11460175" cy="329184"/>
          </a:xfrm>
          <a:prstGeom prst="rect">
            <a:avLst/>
          </a:prstGeom>
          <a:solidFill>
            <a:srgbClr val="0D1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TextBox 64"/>
          <p:cNvSpPr txBox="1"/>
          <p:nvPr/>
        </p:nvSpPr>
        <p:spPr>
          <a:xfrm>
            <a:off x="457200" y="6217920"/>
            <a:ext cx="11277295" cy="292608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/>
            <a:r>
              <a:rPr sz="1100" b="1" i="0">
                <a:solidFill>
                  <a:srgbClr val="FAFBFC"/>
                </a:solidFill>
                <a:latin typeface="Calibri"/>
              </a:rPr>
              <a:t>Same Claude Code engine.  Structured workflow on top.  Every advantage above maps to a concrete plugin feature.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1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54864" cy="960120"/>
          </a:xfrm>
          <a:prstGeom prst="rect">
            <a:avLst/>
          </a:prstGeom>
          <a:solidFill>
            <a:srgbClr val="00C2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74320" y="91440"/>
            <a:ext cx="11704320" cy="50292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/>
            <a:r>
              <a:rPr sz="2600" b="0" i="0">
                <a:solidFill>
                  <a:srgbClr val="FAFBFC"/>
                </a:solidFill>
                <a:latin typeface="Segoe UI Semibold"/>
              </a:rPr>
              <a:t>Risk, Safety, and Reversibility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566928"/>
            <a:ext cx="11704320" cy="329184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200" b="0" i="1">
                <a:solidFill>
                  <a:srgbClr val="00C2CB"/>
                </a:solidFill>
                <a:latin typeface="Calibri"/>
              </a:rPr>
              <a:t>What if the AI gets it wrong?  —  every change is reviewable, reversible, and auditable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E6EC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274320" y="6620256"/>
            <a:ext cx="9875520" cy="219456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Calibri"/>
              </a:rPr>
              <a:t>web-modernize v0.15.0   ·   Balaji Harikrishnan   ·   Cognizant   ·   June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620256"/>
            <a:ext cx="777240" cy="219456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Segoe UI Semibold"/>
              </a:rPr>
              <a:t>06  /  13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188720"/>
            <a:ext cx="3694176" cy="4434840"/>
          </a:xfrm>
          <a:prstGeom prst="rect">
            <a:avLst/>
          </a:prstGeom>
          <a:solidFill>
            <a:srgbClr val="FAFBFC"/>
          </a:solidFill>
          <a:ln w="9525">
            <a:solidFill>
              <a:srgbClr val="1A56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365760" y="1188720"/>
            <a:ext cx="91440" cy="4434840"/>
          </a:xfrm>
          <a:prstGeom prst="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94360" y="1371600"/>
            <a:ext cx="3328416" cy="5029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500" b="1" i="0">
                <a:solidFill>
                  <a:srgbClr val="1A56DB"/>
                </a:solidFill>
                <a:latin typeface="Calibri"/>
              </a:rPr>
              <a:t>Approved going in, reversible coming out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1965960"/>
            <a:ext cx="3328416" cy="34747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200" b="0" i="0">
                <a:solidFill>
                  <a:srgbClr val="1F2937"/>
                </a:solidFill>
                <a:latin typeface="Calibri"/>
              </a:rPr>
              <a:t>Nothing risky is written blind: by default /next presents each unit's plan — target files, approach, tests — and waits for your approval before writing a line (opt out per migration via review_mode, or per unit via --no-plan); /foundation always gates the auth + cross-cutting design. And nothing is one-way: every action is recorded in git, one command  (/rollback --unit &lt;id&gt;)  reverts a unit cleanly (refusing shared files unless forced), and destructive commands  (/abandon --hard)  need a two-step confirm. Per-unit notes capture the why alongside the what.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242816" y="1188720"/>
            <a:ext cx="3694176" cy="4434840"/>
          </a:xfrm>
          <a:prstGeom prst="rect">
            <a:avLst/>
          </a:prstGeom>
          <a:solidFill>
            <a:srgbClr val="FAFBFC"/>
          </a:solidFill>
          <a:ln w="9525">
            <a:solidFill>
              <a:srgbClr val="00C2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4242816" y="1188720"/>
            <a:ext cx="91440" cy="4434840"/>
          </a:xfrm>
          <a:prstGeom prst="rect">
            <a:avLst/>
          </a:prstGeom>
          <a:solidFill>
            <a:srgbClr val="00C2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471416" y="1371600"/>
            <a:ext cx="3328416" cy="5029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500" b="1" i="0">
                <a:solidFill>
                  <a:srgbClr val="00C2CB"/>
                </a:solidFill>
                <a:latin typeface="Calibri"/>
              </a:rPr>
              <a:t>Nothing ships unverified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71416" y="1965960"/>
            <a:ext cx="3328416" cy="34747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200" b="0" i="0">
                <a:solidFill>
                  <a:srgbClr val="1F2937"/>
                </a:solidFill>
                <a:latin typeface="Calibri"/>
              </a:rPr>
              <a:t>/verify is a hard gate — lint, type-check, and tests must pass before a unit transitions from migrated to verified. A read-only parity-reviewer then compares migrated vs legacy — validation, output shape, errors, UI states, and security (dropped authorization, injection, secret leakage); high-severity differences block until acknowledged via /parity-check. An advisory migration-critic flags non-idiomatic code and static-performance regressions (N+1 queries, unbounded fetches, bundle bloat), and an opt-in dynamic tier (API replay + Playwright E2E) adds runtime checks. Discovered credentials are masked in every shared artifact. /retry --with-prompt re-attempts with human guidance.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119872" y="1188720"/>
            <a:ext cx="3694176" cy="4434840"/>
          </a:xfrm>
          <a:prstGeom prst="rect">
            <a:avLst/>
          </a:prstGeom>
          <a:solidFill>
            <a:srgbClr val="FAFBFC"/>
          </a:solidFill>
          <a:ln w="952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8119872" y="1188720"/>
            <a:ext cx="91440" cy="44348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348472" y="1371600"/>
            <a:ext cx="3328416" cy="5029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500" b="1" i="0">
                <a:solidFill>
                  <a:srgbClr val="10B981"/>
                </a:solidFill>
                <a:latin typeface="Calibri"/>
              </a:rPr>
              <a:t>Nothing is hidden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48472" y="1965960"/>
            <a:ext cx="3328416" cy="34747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200" b="0" i="0">
                <a:solidFill>
                  <a:srgbClr val="1F2937"/>
                </a:solidFill>
                <a:latin typeface="Calibri"/>
              </a:rPr>
              <a:t>All state lives in git as JSON — auditable, diffable, code-reviewable. /status shows real-time who's working on what; stale sessions surface automatically. Per-unit file split means each developer's work appears as its own commit; nothing hides in a merge.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65760" y="5852160"/>
            <a:ext cx="11460175" cy="685800"/>
          </a:xfrm>
          <a:prstGeom prst="rect">
            <a:avLst/>
          </a:prstGeom>
          <a:solidFill>
            <a:srgbClr val="0D1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457200" y="5870448"/>
            <a:ext cx="11277295" cy="329184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/>
            <a:r>
              <a:rPr sz="1500" b="1" i="0">
                <a:solidFill>
                  <a:srgbClr val="FAFBFC"/>
                </a:solidFill>
                <a:latin typeface="Segoe UI Semibold"/>
              </a:rPr>
              <a:t>Every AI-generated change is reviewable, reversible, and auditable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6199632"/>
            <a:ext cx="11277295" cy="310896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/>
            <a:r>
              <a:rPr sz="1200" b="0" i="1">
                <a:solidFill>
                  <a:srgbClr val="00C2CB"/>
                </a:solidFill>
                <a:latin typeface="Calibri"/>
              </a:rPr>
              <a:t>Not a one-way bet on the model getting it right the first time.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1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54864" cy="960120"/>
          </a:xfrm>
          <a:prstGeom prst="rect">
            <a:avLst/>
          </a:prstGeom>
          <a:solidFill>
            <a:srgbClr val="00C2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74320" y="91440"/>
            <a:ext cx="11704320" cy="50292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/>
            <a:r>
              <a:rPr sz="2600" b="0" i="0">
                <a:solidFill>
                  <a:srgbClr val="FAFBFC"/>
                </a:solidFill>
                <a:latin typeface="Segoe UI Semibold"/>
              </a:rPr>
              <a:t>Built for Sprint and PI Planning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566928"/>
            <a:ext cx="11704320" cy="329184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200" b="0" i="1">
                <a:solidFill>
                  <a:srgbClr val="00C2CB"/>
                </a:solidFill>
                <a:latin typeface="Calibri"/>
              </a:rPr>
              <a:t>The plugin speaks backlog, dependencies, sprints, and burndown natively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E6EC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274320" y="6620256"/>
            <a:ext cx="9875520" cy="219456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Calibri"/>
              </a:rPr>
              <a:t>web-modernize v0.15.0   ·   Balaji Harikrishnan   ·   Cognizant   ·   June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620256"/>
            <a:ext cx="777240" cy="219456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Segoe UI Semibold"/>
              </a:rPr>
              <a:t>07  /  13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188720"/>
            <a:ext cx="3694176" cy="2240280"/>
          </a:xfrm>
          <a:prstGeom prst="rect">
            <a:avLst/>
          </a:prstGeom>
          <a:solidFill>
            <a:srgbClr val="FAFBFC"/>
          </a:solidFill>
          <a:ln w="9525">
            <a:solidFill>
              <a:srgbClr val="1A56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365760" y="1188720"/>
            <a:ext cx="73152" cy="2240280"/>
          </a:xfrm>
          <a:prstGeom prst="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66928" y="1353312"/>
            <a:ext cx="338328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400" b="1" i="0">
                <a:solidFill>
                  <a:srgbClr val="1A56DB"/>
                </a:solidFill>
                <a:latin typeface="Calibri"/>
              </a:rPr>
              <a:t>/plan  =  Sprint or PI planning input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1828800"/>
            <a:ext cx="3383280" cy="14630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200" b="0" i="0">
                <a:solidFill>
                  <a:srgbClr val="1F2937"/>
                </a:solidFill>
                <a:latin typeface="Calibri"/>
              </a:rPr>
              <a:t>Auto-generates the full migration backlog. One estimable item per page or feature — ready for sizing, prioritisation, and assignment.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242816" y="1188720"/>
            <a:ext cx="3694176" cy="2240280"/>
          </a:xfrm>
          <a:prstGeom prst="rect">
            <a:avLst/>
          </a:prstGeom>
          <a:solidFill>
            <a:srgbClr val="FAFBFC"/>
          </a:solidFill>
          <a:ln w="9525">
            <a:solidFill>
              <a:srgbClr val="1A56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4242816" y="1188720"/>
            <a:ext cx="73152" cy="2240280"/>
          </a:xfrm>
          <a:prstGeom prst="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443984" y="1353312"/>
            <a:ext cx="338328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400" b="1" i="0">
                <a:solidFill>
                  <a:srgbClr val="1A56DB"/>
                </a:solidFill>
                <a:latin typeface="Calibri"/>
              </a:rPr>
              <a:t>Each unit  =  one estimable backlog item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984" y="1828800"/>
            <a:ext cx="3383280" cy="14630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200" b="0" i="0">
                <a:solidFill>
                  <a:srgbClr val="1F2937"/>
                </a:solidFill>
                <a:latin typeface="Calibri"/>
              </a:rPr>
              <a:t>Sized S / M / L / XL by file count and complexity. Discrete and independently testable, with a clear definition of done (/verify must pass). XL units become epics — teams decompose them into sprint-sized work during PI planning.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119872" y="1188720"/>
            <a:ext cx="3694176" cy="2240280"/>
          </a:xfrm>
          <a:prstGeom prst="rect">
            <a:avLst/>
          </a:prstGeom>
          <a:solidFill>
            <a:srgbClr val="FAFBFC"/>
          </a:solidFill>
          <a:ln w="9525">
            <a:solidFill>
              <a:srgbClr val="1A56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8119872" y="1188720"/>
            <a:ext cx="73152" cy="2240280"/>
          </a:xfrm>
          <a:prstGeom prst="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321040" y="1353312"/>
            <a:ext cx="338328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400" b="1" i="0">
                <a:solidFill>
                  <a:srgbClr val="1A56DB"/>
                </a:solidFill>
                <a:latin typeface="Calibri"/>
              </a:rPr>
              <a:t>Dependencies built in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21040" y="1828800"/>
            <a:ext cx="3383280" cy="14630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200" b="0" i="0">
                <a:solidFill>
                  <a:srgbClr val="1F2937"/>
                </a:solidFill>
                <a:latin typeface="Calibri"/>
              </a:rPr>
              <a:t>/plan declares which units depend on which — a natural sequencing input for sprint commitment and PI iteration goals.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65760" y="3611880"/>
            <a:ext cx="3694176" cy="2240280"/>
          </a:xfrm>
          <a:prstGeom prst="rect">
            <a:avLst/>
          </a:prstGeom>
          <a:solidFill>
            <a:srgbClr val="FAFBFC"/>
          </a:solidFill>
          <a:ln w="9525">
            <a:solidFill>
              <a:srgbClr val="1A56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365760" y="3611880"/>
            <a:ext cx="73152" cy="2240280"/>
          </a:xfrm>
          <a:prstGeom prst="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566928" y="3776472"/>
            <a:ext cx="338328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400" b="1" i="0">
                <a:solidFill>
                  <a:srgbClr val="1A56DB"/>
                </a:solidFill>
                <a:latin typeface="Calibri"/>
              </a:rPr>
              <a:t>Standup-friendly coordination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66928" y="4251960"/>
            <a:ext cx="3383280" cy="14630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200" b="0" i="0">
                <a:solidFill>
                  <a:srgbClr val="1F2937"/>
                </a:solidFill>
                <a:latin typeface="Calibri"/>
              </a:rPr>
              <a:t>Teams pick assignments at standup, just like any sprint. Behind the scenes the plugin stores each unit's progress in its own file — so two developers on different units never collide in git.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242816" y="3611880"/>
            <a:ext cx="3694176" cy="2240280"/>
          </a:xfrm>
          <a:prstGeom prst="rect">
            <a:avLst/>
          </a:prstGeom>
          <a:solidFill>
            <a:srgbClr val="FAFBFC"/>
          </a:solidFill>
          <a:ln w="9525">
            <a:solidFill>
              <a:srgbClr val="1A56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4242816" y="3611880"/>
            <a:ext cx="73152" cy="2240280"/>
          </a:xfrm>
          <a:prstGeom prst="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4443984" y="3776472"/>
            <a:ext cx="338328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400" b="1" i="0">
                <a:solidFill>
                  <a:srgbClr val="1A56DB"/>
                </a:solidFill>
                <a:latin typeface="Calibri"/>
              </a:rPr>
              <a:t>/status  =  real-time team kanban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43984" y="4251960"/>
            <a:ext cx="3383280" cy="14630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200" b="0" i="0">
                <a:solidFill>
                  <a:srgbClr val="1F2937"/>
                </a:solidFill>
                <a:latin typeface="Calibri"/>
              </a:rPr>
              <a:t>Read-only view showing pending, in-flight, blocked, and done units across the whole team. Refreshes on every git pull.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119872" y="3611880"/>
            <a:ext cx="3694176" cy="2240280"/>
          </a:xfrm>
          <a:prstGeom prst="rect">
            <a:avLst/>
          </a:prstGeom>
          <a:solidFill>
            <a:srgbClr val="FAFBFC"/>
          </a:solidFill>
          <a:ln w="9525">
            <a:solidFill>
              <a:srgbClr val="1A56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8119872" y="3611880"/>
            <a:ext cx="73152" cy="2240280"/>
          </a:xfrm>
          <a:prstGeom prst="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8321040" y="3776472"/>
            <a:ext cx="338328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400" b="1" i="0">
                <a:solidFill>
                  <a:srgbClr val="1A56DB"/>
                </a:solidFill>
                <a:latin typeface="Calibri"/>
              </a:rPr>
              <a:t>/report  =  burndown and ETA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21040" y="4251960"/>
            <a:ext cx="3383280" cy="14630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200" b="0" i="0">
                <a:solidFill>
                  <a:srgbClr val="1F2937"/>
                </a:solidFill>
                <a:latin typeface="Calibri"/>
              </a:rPr>
              <a:t>Run /report whenever you need a burndown chart, velocity trend, or completion ETA — perfect for sprint reviews and PI demos. Numbers come from the team's actual git history, not a spreadsheet someone has to maintain.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65760" y="6172200"/>
            <a:ext cx="11460175" cy="365760"/>
          </a:xfrm>
          <a:prstGeom prst="rect">
            <a:avLst/>
          </a:prstGeom>
          <a:solidFill>
            <a:srgbClr val="0D1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457200" y="6199632"/>
            <a:ext cx="11277295" cy="310896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/>
            <a:r>
              <a:rPr sz="1200" b="1" i="0">
                <a:solidFill>
                  <a:srgbClr val="FAFBFC"/>
                </a:solidFill>
                <a:latin typeface="Calibri"/>
              </a:rPr>
              <a:t>Designed for Scaled Agile  —  multiple feature teams in one ART can migrate different units in the same PI without colliding.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1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54864" cy="960120"/>
          </a:xfrm>
          <a:prstGeom prst="rect">
            <a:avLst/>
          </a:prstGeom>
          <a:solidFill>
            <a:srgbClr val="00C2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74320" y="91440"/>
            <a:ext cx="11704320" cy="50292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/>
            <a:r>
              <a:rPr sz="2600" b="0" i="0">
                <a:solidFill>
                  <a:srgbClr val="FAFBFC"/>
                </a:solidFill>
                <a:latin typeface="Segoe UI Semibold"/>
              </a:rPr>
              <a:t>From Legacy Codebase to Migration Backlog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566928"/>
            <a:ext cx="11704320" cy="329184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200" b="0" i="1">
                <a:solidFill>
                  <a:srgbClr val="00C2CB"/>
                </a:solidFill>
                <a:latin typeface="Calibri"/>
              </a:rPr>
              <a:t>Two plugin commands  —  /analyze  and  /plan  —  produce a sized, prioritised backlog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E6EC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274320" y="6620256"/>
            <a:ext cx="9875520" cy="219456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Calibri"/>
              </a:rPr>
              <a:t>web-modernize v0.15.0   ·   Balaji Harikrishnan   ·   Cognizant   ·   June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620256"/>
            <a:ext cx="777240" cy="219456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Segoe UI Semibold"/>
              </a:rPr>
              <a:t>08  /  13</a:t>
            </a:r>
          </a:p>
        </p:txBody>
      </p:sp>
      <p:sp>
        <p:nvSpPr>
          <p:cNvPr id="10" name="Rectangle 9"/>
          <p:cNvSpPr/>
          <p:nvPr/>
        </p:nvSpPr>
        <p:spPr>
          <a:xfrm>
            <a:off x="292608" y="1188720"/>
            <a:ext cx="3383280" cy="1097280"/>
          </a:xfrm>
          <a:prstGeom prst="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384048" y="1325880"/>
            <a:ext cx="3200400" cy="36576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/>
            <a:r>
              <a:rPr sz="1400" b="1" i="0">
                <a:solidFill>
                  <a:srgbClr val="FAFBFC"/>
                </a:solidFill>
                <a:latin typeface="Calibri"/>
              </a:rPr>
              <a:t>Legacy Codebase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4048" y="1691640"/>
            <a:ext cx="3200400" cy="54864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/>
            <a:r>
              <a:rPr sz="1100" b="0" i="1">
                <a:solidFill>
                  <a:srgbClr val="FAFBFC"/>
                </a:solidFill>
                <a:latin typeface="Calibri"/>
              </a:rPr>
              <a:t>Untouched.
Read-only inspection.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407408" y="1188720"/>
            <a:ext cx="3383280" cy="1097280"/>
          </a:xfrm>
          <a:prstGeom prst="rect">
            <a:avLst/>
          </a:prstGeom>
          <a:solidFill>
            <a:srgbClr val="0D1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498848" y="1325880"/>
            <a:ext cx="3200400" cy="36576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/>
            <a:r>
              <a:rPr sz="1400" b="1" i="0">
                <a:solidFill>
                  <a:srgbClr val="FAFBFC"/>
                </a:solidFill>
                <a:latin typeface="Calibri"/>
              </a:rPr>
              <a:t>Pre-filled  migration.md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98848" y="1691640"/>
            <a:ext cx="3200400" cy="54864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/>
            <a:r>
              <a:rPr sz="1100" b="0" i="1">
                <a:solidFill>
                  <a:srgbClr val="FAFBFC"/>
                </a:solidFill>
                <a:latin typeface="Calibri"/>
              </a:rPr>
              <a:t>Auto-detected stack +
team-edited targets.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522208" y="1188720"/>
            <a:ext cx="3383280" cy="1097280"/>
          </a:xfrm>
          <a:prstGeom prst="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613648" y="1325880"/>
            <a:ext cx="3200400" cy="36576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/>
            <a:r>
              <a:rPr sz="1400" b="1" i="0">
                <a:solidFill>
                  <a:srgbClr val="FAFBFC"/>
                </a:solidFill>
                <a:latin typeface="Calibri"/>
              </a:rPr>
              <a:t>Migration Backlog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13648" y="1691640"/>
            <a:ext cx="3200400" cy="54864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/>
            <a:r>
              <a:rPr sz="1100" b="0" i="1">
                <a:solidFill>
                  <a:srgbClr val="FAFBFC"/>
                </a:solidFill>
                <a:latin typeface="Calibri"/>
              </a:rPr>
              <a:t>Sized, prioritised,
ready for sprint planning.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3703320" y="1508760"/>
            <a:ext cx="731520" cy="457200"/>
          </a:xfrm>
          <a:prstGeom prst="rightArrow">
            <a:avLst/>
          </a:prstGeom>
          <a:solidFill>
            <a:srgbClr val="00C2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3657600" y="2039112"/>
            <a:ext cx="822960" cy="27432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/>
            <a:r>
              <a:rPr sz="1200" b="1" i="0">
                <a:solidFill>
                  <a:srgbClr val="00C2CB"/>
                </a:solidFill>
                <a:latin typeface="Consolas"/>
              </a:rPr>
              <a:t>/analyze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7818120" y="1508760"/>
            <a:ext cx="731520" cy="457200"/>
          </a:xfrm>
          <a:prstGeom prst="rightArrow">
            <a:avLst/>
          </a:prstGeom>
          <a:solidFill>
            <a:srgbClr val="00C2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7772400" y="2039112"/>
            <a:ext cx="822960" cy="27432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/>
            <a:r>
              <a:rPr sz="1200" b="1" i="0">
                <a:solidFill>
                  <a:srgbClr val="00C2CB"/>
                </a:solidFill>
                <a:latin typeface="Consolas"/>
              </a:rPr>
              <a:t>/plan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65760" y="2606040"/>
            <a:ext cx="3694176" cy="3520440"/>
          </a:xfrm>
          <a:prstGeom prst="rect">
            <a:avLst/>
          </a:prstGeom>
          <a:solidFill>
            <a:srgbClr val="FAFBFC"/>
          </a:solidFill>
          <a:ln w="9525">
            <a:solidFill>
              <a:srgbClr val="1A56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365760" y="2606040"/>
            <a:ext cx="3694176" cy="502920"/>
          </a:xfrm>
          <a:prstGeom prst="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457200" y="2651760"/>
            <a:ext cx="3511296" cy="41148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/>
            <a:r>
              <a:rPr sz="1300" b="0" i="0">
                <a:solidFill>
                  <a:srgbClr val="FAFBFC"/>
                </a:solidFill>
                <a:latin typeface="Segoe UI Semibold"/>
              </a:rPr>
              <a:t>Step 1  —  /analyze (automatic)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3246120"/>
            <a:ext cx="18288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200" b="1" i="0">
                <a:solidFill>
                  <a:srgbClr val="1A56DB"/>
                </a:solidFill>
                <a:latin typeface="Calibri"/>
              </a:rPr>
              <a:t>▸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9808" y="3246120"/>
            <a:ext cx="3191256" cy="5029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  <a:latin typeface="Calibri"/>
              </a:rPr>
              <a:t>Reads every legacy file (never modifies them).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3794759"/>
            <a:ext cx="18288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200" b="1" i="0">
                <a:solidFill>
                  <a:srgbClr val="1A56DB"/>
                </a:solidFill>
                <a:latin typeface="Calibri"/>
              </a:rPr>
              <a:t>▸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9808" y="3794759"/>
            <a:ext cx="3191256" cy="5029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  <a:latin typeface="Calibri"/>
              </a:rPr>
              <a:t>Detects framework, version, and build tooling.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8640" y="4343399"/>
            <a:ext cx="18288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200" b="1" i="0">
                <a:solidFill>
                  <a:srgbClr val="1A56DB"/>
                </a:solidFill>
                <a:latin typeface="Calibri"/>
              </a:rPr>
              <a:t>▸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49808" y="4343399"/>
            <a:ext cx="3191256" cy="5029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  <a:latin typeface="Calibri"/>
              </a:rPr>
              <a:t>Identifies entry points  —  exhaustive loop-until-dry discovery on large apps.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8640" y="4892039"/>
            <a:ext cx="18288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200" b="1" i="0">
                <a:solidFill>
                  <a:srgbClr val="1A56DB"/>
                </a:solidFill>
                <a:latin typeface="Calibri"/>
              </a:rPr>
              <a:t>▸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49808" y="4892039"/>
            <a:ext cx="3191256" cy="5029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  <a:latin typeface="Calibri"/>
              </a:rPr>
              <a:t>Pre-fills migration.md §2  (Source Stack)  for you.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48640" y="5440679"/>
            <a:ext cx="18288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200" b="1" i="0">
                <a:solidFill>
                  <a:srgbClr val="1A56DB"/>
                </a:solidFill>
                <a:latin typeface="Calibri"/>
              </a:rPr>
              <a:t>▸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49808" y="5440679"/>
            <a:ext cx="3191256" cy="5029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  <a:latin typeface="Calibri"/>
              </a:rPr>
              <a:t>Writes analysis.json — a structured inventory you can audit.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242816" y="2606040"/>
            <a:ext cx="3694176" cy="3520440"/>
          </a:xfrm>
          <a:prstGeom prst="rect">
            <a:avLst/>
          </a:prstGeom>
          <a:solidFill>
            <a:srgbClr val="FAFBFC"/>
          </a:solidFill>
          <a:ln w="9525">
            <a:solidFill>
              <a:srgbClr val="00C2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Rectangle 36"/>
          <p:cNvSpPr/>
          <p:nvPr/>
        </p:nvSpPr>
        <p:spPr>
          <a:xfrm>
            <a:off x="4242816" y="2606040"/>
            <a:ext cx="3694176" cy="502920"/>
          </a:xfrm>
          <a:prstGeom prst="rect">
            <a:avLst/>
          </a:prstGeom>
          <a:solidFill>
            <a:srgbClr val="00C2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4334256" y="2651760"/>
            <a:ext cx="3511296" cy="41148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/>
            <a:r>
              <a:rPr sz="1300" b="0" i="0">
                <a:solidFill>
                  <a:srgbClr val="FAFBFC"/>
                </a:solidFill>
                <a:latin typeface="Segoe UI Semibold"/>
              </a:rPr>
              <a:t>Step 2  —  Edit migration.md (team)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425696" y="3246120"/>
            <a:ext cx="18288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200" b="1" i="0">
                <a:solidFill>
                  <a:srgbClr val="00C2CB"/>
                </a:solidFill>
                <a:latin typeface="Calibri"/>
              </a:rPr>
              <a:t>▸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626864" y="3246120"/>
            <a:ext cx="3191256" cy="5029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  <a:latin typeface="Calibri"/>
              </a:rPr>
              <a:t>Choose target UI framework  (React, Next, Vue, Angular, Svelte).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425696" y="3794759"/>
            <a:ext cx="18288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200" b="1" i="0">
                <a:solidFill>
                  <a:srgbClr val="00C2CB"/>
                </a:solidFill>
                <a:latin typeface="Calibri"/>
              </a:rPr>
              <a:t>▸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626864" y="3794759"/>
            <a:ext cx="3191256" cy="5029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  <a:latin typeface="Calibri"/>
              </a:rPr>
              <a:t>Choose target API framework  —  or 'none' for UI-only migrations.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425696" y="4343399"/>
            <a:ext cx="18288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200" b="1" i="0">
                <a:solidFill>
                  <a:srgbClr val="00C2CB"/>
                </a:solidFill>
                <a:latin typeface="Calibri"/>
              </a:rPr>
              <a:t>▸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626864" y="4343399"/>
            <a:ext cx="3191256" cy="5029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  <a:latin typeface="Calibri"/>
              </a:rPr>
              <a:t>Pick migration strategy  (strangler-fig, big-bang, module-by-module).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425696" y="4892039"/>
            <a:ext cx="18288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200" b="1" i="0">
                <a:solidFill>
                  <a:srgbClr val="00C2CB"/>
                </a:solidFill>
                <a:latin typeface="Calibri"/>
              </a:rPr>
              <a:t>▸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626864" y="4892039"/>
            <a:ext cx="3191256" cy="5029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  <a:latin typeface="Calibri"/>
              </a:rPr>
              <a:t>Declare current and target auth provider.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425696" y="5440679"/>
            <a:ext cx="18288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200" b="1" i="0">
                <a:solidFill>
                  <a:srgbClr val="00C2CB"/>
                </a:solidFill>
                <a:latin typeface="Calibri"/>
              </a:rPr>
              <a:t>▸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626864" y="5440679"/>
            <a:ext cx="3191256" cy="5029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  <a:latin typeface="Calibri"/>
              </a:rPr>
              <a:t>Set acceptance criteria  —  these drive /verify's pass/fail bar.</a:t>
            </a:r>
          </a:p>
        </p:txBody>
      </p:sp>
      <p:sp>
        <p:nvSpPr>
          <p:cNvPr id="49" name="Rectangle 48"/>
          <p:cNvSpPr/>
          <p:nvPr/>
        </p:nvSpPr>
        <p:spPr>
          <a:xfrm>
            <a:off x="8119872" y="2606040"/>
            <a:ext cx="3694176" cy="3520440"/>
          </a:xfrm>
          <a:prstGeom prst="rect">
            <a:avLst/>
          </a:prstGeom>
          <a:solidFill>
            <a:srgbClr val="FAFBFC"/>
          </a:solidFill>
          <a:ln w="952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Rectangle 49"/>
          <p:cNvSpPr/>
          <p:nvPr/>
        </p:nvSpPr>
        <p:spPr>
          <a:xfrm>
            <a:off x="8119872" y="2606040"/>
            <a:ext cx="3694176" cy="5029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8211312" y="2651760"/>
            <a:ext cx="3511296" cy="41148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/>
            <a:r>
              <a:rPr sz="1300" b="0" i="0">
                <a:solidFill>
                  <a:srgbClr val="FAFBFC"/>
                </a:solidFill>
                <a:latin typeface="Segoe UI Semibold"/>
              </a:rPr>
              <a:t>Step 3  —  /plan (automatic)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302752" y="3246120"/>
            <a:ext cx="18288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200" b="1" i="0">
                <a:solidFill>
                  <a:srgbClr val="10B981"/>
                </a:solidFill>
                <a:latin typeface="Calibri"/>
              </a:rPr>
              <a:t>▸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503920" y="3246120"/>
            <a:ext cx="3191256" cy="5029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  <a:latin typeface="Calibri"/>
              </a:rPr>
              <a:t>Validates that migration.md is complete and consistent.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302752" y="3794759"/>
            <a:ext cx="18288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200" b="1" i="0">
                <a:solidFill>
                  <a:srgbClr val="10B981"/>
                </a:solidFill>
                <a:latin typeface="Calibri"/>
              </a:rPr>
              <a:t>▸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503920" y="3794759"/>
            <a:ext cx="3191256" cy="5029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  <a:latin typeface="Calibri"/>
              </a:rPr>
              <a:t>Generates plan.md  —  a reviewable plan with a dependency graph.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302752" y="4343399"/>
            <a:ext cx="18288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200" b="1" i="0">
                <a:solidFill>
                  <a:srgbClr val="10B981"/>
                </a:solidFill>
                <a:latin typeface="Calibri"/>
              </a:rPr>
              <a:t>▸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503920" y="4343399"/>
            <a:ext cx="3191256" cy="5029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  <a:latin typeface="Calibri"/>
              </a:rPr>
              <a:t>Seeds the unit backlog  —  one item per page or feature.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302752" y="4892039"/>
            <a:ext cx="18288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200" b="1" i="0">
                <a:solidFill>
                  <a:srgbClr val="10B981"/>
                </a:solidFill>
                <a:latin typeface="Calibri"/>
              </a:rPr>
              <a:t>▸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503920" y="4892039"/>
            <a:ext cx="3191256" cy="5029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  <a:latin typeface="Calibri"/>
              </a:rPr>
              <a:t>Re-runnable: edit migration.md and re-run /plan anytime.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302752" y="5440679"/>
            <a:ext cx="18288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200" b="1" i="0">
                <a:solidFill>
                  <a:srgbClr val="10B981"/>
                </a:solidFill>
                <a:latin typeface="Calibri"/>
              </a:rPr>
              <a:t>▸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503920" y="5440679"/>
            <a:ext cx="3191256" cy="5029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  <a:latin typeface="Calibri"/>
              </a:rPr>
              <a:t>History is preserved across re-plans  (by unit id).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65760" y="6199632"/>
            <a:ext cx="11460175" cy="329184"/>
          </a:xfrm>
          <a:prstGeom prst="rect">
            <a:avLst/>
          </a:prstGeom>
          <a:solidFill>
            <a:srgbClr val="0D1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TextBox 62"/>
          <p:cNvSpPr txBox="1"/>
          <p:nvPr/>
        </p:nvSpPr>
        <p:spPr>
          <a:xfrm>
            <a:off x="457200" y="6217920"/>
            <a:ext cx="11277295" cy="292608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/>
            <a:r>
              <a:rPr sz="1100" b="1" i="0">
                <a:solidFill>
                  <a:srgbClr val="FAFBFC"/>
                </a:solidFill>
                <a:latin typeface="Calibri"/>
              </a:rPr>
              <a:t>All artifacts  (migration.md, analysis.json, plan.md, units/*.json)  live in git  —  auditable, versioned, never lost to a laptop.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1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54864" cy="960120"/>
          </a:xfrm>
          <a:prstGeom prst="rect">
            <a:avLst/>
          </a:prstGeom>
          <a:solidFill>
            <a:srgbClr val="00C2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74320" y="91440"/>
            <a:ext cx="11704320" cy="50292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/>
            <a:r>
              <a:rPr sz="2600" b="0" i="0">
                <a:solidFill>
                  <a:srgbClr val="FAFBFC"/>
                </a:solidFill>
                <a:latin typeface="Segoe UI Semibold"/>
              </a:rPr>
              <a:t>From Backlog to Migrated Units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566928"/>
            <a:ext cx="11704320" cy="329184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200" b="0" i="1">
                <a:solidFill>
                  <a:srgbClr val="00C2CB"/>
                </a:solidFill>
                <a:latin typeface="Calibri"/>
              </a:rPr>
              <a:t>Set up once with  /scaffold  and  /foundation.  Then the team migrates in parallel with  /next  and  /migrate.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E6EC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274320" y="6620256"/>
            <a:ext cx="9875520" cy="219456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Calibri"/>
              </a:rPr>
              <a:t>web-modernize v0.15.0   ·   Balaji Harikrishnan   ·   Cognizant   ·   June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620256"/>
            <a:ext cx="777240" cy="219456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Segoe UI Semibold"/>
              </a:rPr>
              <a:t>09  /  13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188720"/>
            <a:ext cx="11460175" cy="384048"/>
          </a:xfrm>
          <a:prstGeom prst="rect">
            <a:avLst/>
          </a:prstGeom>
          <a:solidFill>
            <a:srgbClr val="6B72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02920" y="1207008"/>
            <a:ext cx="11277295" cy="347472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/>
            <a:r>
              <a:rPr sz="1300" b="0" i="0">
                <a:solidFill>
                  <a:srgbClr val="FAFBFC"/>
                </a:solidFill>
                <a:latin typeface="Segoe UI Semibold"/>
              </a:rPr>
              <a:t>SETUP   —   one developer runs   /scaffold   then   /foundation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92608" y="1755648"/>
            <a:ext cx="3383280" cy="1005840"/>
          </a:xfrm>
          <a:prstGeom prst="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84048" y="1847088"/>
            <a:ext cx="3200400" cy="36576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/>
            <a:r>
              <a:rPr sz="1400" b="1" i="0">
                <a:solidFill>
                  <a:srgbClr val="FAFBFC"/>
                </a:solidFill>
                <a:latin typeface="Calibri"/>
              </a:rPr>
              <a:t>Backlog Ready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048" y="2212848"/>
            <a:ext cx="3200400" cy="50292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/>
            <a:r>
              <a:rPr sz="1000" b="0" i="1">
                <a:solidFill>
                  <a:srgbClr val="FAFBFC"/>
                </a:solidFill>
                <a:latin typeface="Calibri"/>
              </a:rPr>
              <a:t>From  /plan.
Units sized S / M / L / XL.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407408" y="1755648"/>
            <a:ext cx="3383280" cy="1005840"/>
          </a:xfrm>
          <a:prstGeom prst="rect">
            <a:avLst/>
          </a:prstGeom>
          <a:solidFill>
            <a:srgbClr val="0D1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498848" y="1847088"/>
            <a:ext cx="3200400" cy="36576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/>
            <a:r>
              <a:rPr sz="1400" b="1" i="0">
                <a:solidFill>
                  <a:srgbClr val="FAFBFC"/>
                </a:solidFill>
                <a:latin typeface="Calibri"/>
              </a:rPr>
              <a:t>Target Scaffold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98848" y="2212848"/>
            <a:ext cx="3200400" cy="50292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/>
            <a:r>
              <a:rPr sz="1000" b="0" i="1">
                <a:solidFill>
                  <a:srgbClr val="FAFBFC"/>
                </a:solidFill>
                <a:latin typeface="Calibri"/>
              </a:rPr>
              <a:t>Skeleton + toolchain preflight.
Legacy assets copied in.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522208" y="1755648"/>
            <a:ext cx="3383280" cy="1005840"/>
          </a:xfrm>
          <a:prstGeom prst="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613648" y="1847088"/>
            <a:ext cx="3200400" cy="36576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/>
            <a:r>
              <a:rPr sz="1400" b="1" i="0">
                <a:solidFill>
                  <a:srgbClr val="FAFBFC"/>
                </a:solidFill>
                <a:latin typeface="Calibri"/>
              </a:rPr>
              <a:t>Foundation Ready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13648" y="2212848"/>
            <a:ext cx="3200400" cy="50292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/>
            <a:r>
              <a:rPr sz="1000" b="0" i="1">
                <a:solidFill>
                  <a:srgbClr val="FAFBFC"/>
                </a:solidFill>
                <a:latin typeface="Calibri"/>
              </a:rPr>
              <a:t>Auth + cross-cutting slice
migrated first.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3703320" y="2075688"/>
            <a:ext cx="731520" cy="365760"/>
          </a:xfrm>
          <a:prstGeom prst="rightArrow">
            <a:avLst/>
          </a:prstGeom>
          <a:solidFill>
            <a:srgbClr val="00C2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3657600" y="2468880"/>
            <a:ext cx="822960" cy="27432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/>
            <a:r>
              <a:rPr sz="1100" b="1" i="0">
                <a:solidFill>
                  <a:srgbClr val="00C2CB"/>
                </a:solidFill>
                <a:latin typeface="Consolas"/>
              </a:rPr>
              <a:t>/scaffold</a:t>
            </a:r>
          </a:p>
        </p:txBody>
      </p:sp>
      <p:sp>
        <p:nvSpPr>
          <p:cNvPr id="23" name="Right Arrow 22"/>
          <p:cNvSpPr/>
          <p:nvPr/>
        </p:nvSpPr>
        <p:spPr>
          <a:xfrm>
            <a:off x="7818120" y="2075688"/>
            <a:ext cx="731520" cy="365760"/>
          </a:xfrm>
          <a:prstGeom prst="rightArrow">
            <a:avLst/>
          </a:prstGeom>
          <a:solidFill>
            <a:srgbClr val="00C2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7772400" y="2468880"/>
            <a:ext cx="822960" cy="27432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/>
            <a:r>
              <a:rPr sz="1100" b="1" i="0">
                <a:solidFill>
                  <a:srgbClr val="00C2CB"/>
                </a:solidFill>
                <a:latin typeface="Consolas"/>
              </a:rPr>
              <a:t>/foundation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" y="3108960"/>
            <a:ext cx="11460175" cy="384048"/>
          </a:xfrm>
          <a:prstGeom prst="rect">
            <a:avLst/>
          </a:prstGeom>
          <a:solidFill>
            <a:srgbClr val="00C2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502920" y="3127248"/>
            <a:ext cx="11277295" cy="347472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/>
            <a:r>
              <a:rPr sz="1300" b="0" i="0">
                <a:solidFill>
                  <a:srgbClr val="FAFBFC"/>
                </a:solidFill>
                <a:latin typeface="Segoe UI Semibold"/>
              </a:rPr>
              <a:t>PARALLEL MIGRATION   —   each developer runs   /next   or   /migrate   then   /verify   on a different unit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65760" y="3657600"/>
            <a:ext cx="2221992" cy="2194560"/>
          </a:xfrm>
          <a:prstGeom prst="rect">
            <a:avLst/>
          </a:prstGeom>
          <a:solidFill>
            <a:srgbClr val="FAFBFC"/>
          </a:solidFill>
          <a:ln w="9525">
            <a:solidFill>
              <a:srgbClr val="1A56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365760" y="3657600"/>
            <a:ext cx="2221992" cy="411480"/>
          </a:xfrm>
          <a:prstGeom prst="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457200" y="3694176"/>
            <a:ext cx="2039112" cy="36576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/>
            <a:r>
              <a:rPr sz="1300" b="0" i="0">
                <a:solidFill>
                  <a:srgbClr val="FAFBFC"/>
                </a:solidFill>
                <a:latin typeface="Segoe UI Semibold"/>
              </a:rPr>
              <a:t>Dev 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7200" y="4206240"/>
            <a:ext cx="2039112" cy="27432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/>
            <a:r>
              <a:rPr sz="1000" b="0" i="1">
                <a:solidFill>
                  <a:srgbClr val="6B7280"/>
                </a:solidFill>
                <a:latin typeface="Calibri"/>
              </a:rPr>
              <a:t>migrating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" y="4526280"/>
            <a:ext cx="2039112" cy="50292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/>
            <a:r>
              <a:rPr sz="1300" b="1" i="0">
                <a:solidFill>
                  <a:srgbClr val="0D1B2A"/>
                </a:solidFill>
                <a:latin typeface="Calibri"/>
              </a:rPr>
              <a:t>HomePage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75488" y="5212080"/>
            <a:ext cx="2002536" cy="457200"/>
          </a:xfrm>
          <a:prstGeom prst="rect">
            <a:avLst/>
          </a:prstGeom>
          <a:solidFill>
            <a:srgbClr val="EBF2FF"/>
          </a:solidFill>
          <a:ln w="6350">
            <a:solidFill>
              <a:srgbClr val="1A56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475488" y="5230368"/>
            <a:ext cx="2002536" cy="420624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/>
            <a:r>
              <a:rPr sz="1000" b="1" i="0">
                <a:solidFill>
                  <a:srgbClr val="1A56DB"/>
                </a:solidFill>
                <a:latin typeface="Consolas"/>
              </a:rPr>
              <a:t>/migrate  →  /verify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706624" y="3657600"/>
            <a:ext cx="2221992" cy="2194560"/>
          </a:xfrm>
          <a:prstGeom prst="rect">
            <a:avLst/>
          </a:prstGeom>
          <a:solidFill>
            <a:srgbClr val="FAFBFC"/>
          </a:solidFill>
          <a:ln w="9525">
            <a:solidFill>
              <a:srgbClr val="1A56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2706624" y="3657600"/>
            <a:ext cx="2221992" cy="411480"/>
          </a:xfrm>
          <a:prstGeom prst="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2798064" y="3694176"/>
            <a:ext cx="2039112" cy="36576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/>
            <a:r>
              <a:rPr sz="1300" b="0" i="0">
                <a:solidFill>
                  <a:srgbClr val="FAFBFC"/>
                </a:solidFill>
                <a:latin typeface="Segoe UI Semibold"/>
              </a:rPr>
              <a:t>Dev B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798064" y="4206240"/>
            <a:ext cx="2039112" cy="27432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/>
            <a:r>
              <a:rPr sz="1000" b="0" i="1">
                <a:solidFill>
                  <a:srgbClr val="6B7280"/>
                </a:solidFill>
                <a:latin typeface="Calibri"/>
              </a:rPr>
              <a:t>migrating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798064" y="4526280"/>
            <a:ext cx="2039112" cy="50292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/>
            <a:r>
              <a:rPr sz="1300" b="1" i="0">
                <a:solidFill>
                  <a:srgbClr val="0D1B2A"/>
                </a:solidFill>
                <a:latin typeface="Calibri"/>
              </a:rPr>
              <a:t>PaymentProcessor</a:t>
            </a:r>
          </a:p>
        </p:txBody>
      </p:sp>
      <p:sp>
        <p:nvSpPr>
          <p:cNvPr id="39" name="Rectangle 38"/>
          <p:cNvSpPr/>
          <p:nvPr/>
        </p:nvSpPr>
        <p:spPr>
          <a:xfrm>
            <a:off x="2816352" y="5212080"/>
            <a:ext cx="2002536" cy="457200"/>
          </a:xfrm>
          <a:prstGeom prst="rect">
            <a:avLst/>
          </a:prstGeom>
          <a:solidFill>
            <a:srgbClr val="EBF2FF"/>
          </a:solidFill>
          <a:ln w="6350">
            <a:solidFill>
              <a:srgbClr val="1A56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2816352" y="5230368"/>
            <a:ext cx="2002536" cy="420624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/>
            <a:r>
              <a:rPr sz="1000" b="1" i="0">
                <a:solidFill>
                  <a:srgbClr val="1A56DB"/>
                </a:solidFill>
                <a:latin typeface="Consolas"/>
              </a:rPr>
              <a:t>/migrate  →  /verify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047488" y="3657600"/>
            <a:ext cx="2221992" cy="2194560"/>
          </a:xfrm>
          <a:prstGeom prst="rect">
            <a:avLst/>
          </a:prstGeom>
          <a:solidFill>
            <a:srgbClr val="FAFBFC"/>
          </a:solidFill>
          <a:ln w="9525">
            <a:solidFill>
              <a:srgbClr val="1A56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Rectangle 41"/>
          <p:cNvSpPr/>
          <p:nvPr/>
        </p:nvSpPr>
        <p:spPr>
          <a:xfrm>
            <a:off x="5047488" y="3657600"/>
            <a:ext cx="2221992" cy="411480"/>
          </a:xfrm>
          <a:prstGeom prst="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5138928" y="3694176"/>
            <a:ext cx="2039112" cy="36576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/>
            <a:r>
              <a:rPr sz="1300" b="0" i="0">
                <a:solidFill>
                  <a:srgbClr val="FAFBFC"/>
                </a:solidFill>
                <a:latin typeface="Segoe UI Semibold"/>
              </a:rPr>
              <a:t>Dev C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138928" y="4206240"/>
            <a:ext cx="2039112" cy="27432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/>
            <a:r>
              <a:rPr sz="1000" b="0" i="1">
                <a:solidFill>
                  <a:srgbClr val="6B7280"/>
                </a:solidFill>
                <a:latin typeface="Calibri"/>
              </a:rPr>
              <a:t>migrating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138928" y="4526280"/>
            <a:ext cx="2039112" cy="50292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/>
            <a:r>
              <a:rPr sz="1300" b="1" i="0">
                <a:solidFill>
                  <a:srgbClr val="0D1B2A"/>
                </a:solidFill>
                <a:latin typeface="Calibri"/>
              </a:rPr>
              <a:t>OrderList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157216" y="5212080"/>
            <a:ext cx="2002536" cy="457200"/>
          </a:xfrm>
          <a:prstGeom prst="rect">
            <a:avLst/>
          </a:prstGeom>
          <a:solidFill>
            <a:srgbClr val="EBF2FF"/>
          </a:solidFill>
          <a:ln w="6350">
            <a:solidFill>
              <a:srgbClr val="1A56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5157216" y="5230368"/>
            <a:ext cx="2002536" cy="420624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/>
            <a:r>
              <a:rPr sz="1000" b="1" i="0">
                <a:solidFill>
                  <a:srgbClr val="1A56DB"/>
                </a:solidFill>
                <a:latin typeface="Consolas"/>
              </a:rPr>
              <a:t>/migrate  →  /verify</a:t>
            </a:r>
          </a:p>
        </p:txBody>
      </p:sp>
      <p:sp>
        <p:nvSpPr>
          <p:cNvPr id="48" name="Rectangle 47"/>
          <p:cNvSpPr/>
          <p:nvPr/>
        </p:nvSpPr>
        <p:spPr>
          <a:xfrm>
            <a:off x="7388352" y="3657600"/>
            <a:ext cx="2221992" cy="2194560"/>
          </a:xfrm>
          <a:prstGeom prst="rect">
            <a:avLst/>
          </a:prstGeom>
          <a:solidFill>
            <a:srgbClr val="FAFBFC"/>
          </a:solidFill>
          <a:ln w="9525">
            <a:solidFill>
              <a:srgbClr val="1A56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Rectangle 48"/>
          <p:cNvSpPr/>
          <p:nvPr/>
        </p:nvSpPr>
        <p:spPr>
          <a:xfrm>
            <a:off x="7388352" y="3657600"/>
            <a:ext cx="2221992" cy="411480"/>
          </a:xfrm>
          <a:prstGeom prst="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7479792" y="3694176"/>
            <a:ext cx="2039112" cy="36576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/>
            <a:r>
              <a:rPr sz="1300" b="0" i="0">
                <a:solidFill>
                  <a:srgbClr val="FAFBFC"/>
                </a:solidFill>
                <a:latin typeface="Segoe UI Semibold"/>
              </a:rPr>
              <a:t>Dev D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479792" y="4206240"/>
            <a:ext cx="2039112" cy="27432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/>
            <a:r>
              <a:rPr sz="1000" b="0" i="1">
                <a:solidFill>
                  <a:srgbClr val="6B7280"/>
                </a:solidFill>
                <a:latin typeface="Calibri"/>
              </a:rPr>
              <a:t>migrating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479792" y="4526280"/>
            <a:ext cx="2039112" cy="50292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/>
            <a:r>
              <a:rPr sz="1300" b="1" i="0">
                <a:solidFill>
                  <a:srgbClr val="0D1B2A"/>
                </a:solidFill>
                <a:latin typeface="Calibri"/>
              </a:rPr>
              <a:t>Dashboard</a:t>
            </a:r>
          </a:p>
        </p:txBody>
      </p:sp>
      <p:sp>
        <p:nvSpPr>
          <p:cNvPr id="53" name="Rectangle 52"/>
          <p:cNvSpPr/>
          <p:nvPr/>
        </p:nvSpPr>
        <p:spPr>
          <a:xfrm>
            <a:off x="7498079" y="5212080"/>
            <a:ext cx="2002536" cy="457200"/>
          </a:xfrm>
          <a:prstGeom prst="rect">
            <a:avLst/>
          </a:prstGeom>
          <a:solidFill>
            <a:srgbClr val="EBF2FF"/>
          </a:solidFill>
          <a:ln w="6350">
            <a:solidFill>
              <a:srgbClr val="1A56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TextBox 53"/>
          <p:cNvSpPr txBox="1"/>
          <p:nvPr/>
        </p:nvSpPr>
        <p:spPr>
          <a:xfrm>
            <a:off x="7498079" y="5230368"/>
            <a:ext cx="2002536" cy="420624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/>
            <a:r>
              <a:rPr sz="1000" b="1" i="0">
                <a:solidFill>
                  <a:srgbClr val="1A56DB"/>
                </a:solidFill>
                <a:latin typeface="Consolas"/>
              </a:rPr>
              <a:t>/migrate  →  /verify</a:t>
            </a:r>
          </a:p>
        </p:txBody>
      </p:sp>
      <p:sp>
        <p:nvSpPr>
          <p:cNvPr id="55" name="Rectangle 54"/>
          <p:cNvSpPr/>
          <p:nvPr/>
        </p:nvSpPr>
        <p:spPr>
          <a:xfrm>
            <a:off x="9729216" y="3657600"/>
            <a:ext cx="2221992" cy="2194560"/>
          </a:xfrm>
          <a:prstGeom prst="rect">
            <a:avLst/>
          </a:prstGeom>
          <a:solidFill>
            <a:srgbClr val="FAFBFC"/>
          </a:solidFill>
          <a:ln w="9525">
            <a:solidFill>
              <a:srgbClr val="1A56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Rectangle 55"/>
          <p:cNvSpPr/>
          <p:nvPr/>
        </p:nvSpPr>
        <p:spPr>
          <a:xfrm>
            <a:off x="9729216" y="3657600"/>
            <a:ext cx="2221992" cy="411480"/>
          </a:xfrm>
          <a:prstGeom prst="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TextBox 56"/>
          <p:cNvSpPr txBox="1"/>
          <p:nvPr/>
        </p:nvSpPr>
        <p:spPr>
          <a:xfrm>
            <a:off x="9820656" y="3694176"/>
            <a:ext cx="2039112" cy="36576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/>
            <a:r>
              <a:rPr sz="1300" b="0" i="0">
                <a:solidFill>
                  <a:srgbClr val="FAFBFC"/>
                </a:solidFill>
                <a:latin typeface="Segoe UI Semibold"/>
              </a:rPr>
              <a:t>Dev E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9820656" y="4206240"/>
            <a:ext cx="2039112" cy="27432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/>
            <a:r>
              <a:rPr sz="1000" b="0" i="1">
                <a:solidFill>
                  <a:srgbClr val="6B7280"/>
                </a:solidFill>
                <a:latin typeface="Calibri"/>
              </a:rPr>
              <a:t>migrating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820656" y="4526280"/>
            <a:ext cx="2039112" cy="50292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/>
            <a:r>
              <a:rPr sz="1300" b="1" i="0">
                <a:solidFill>
                  <a:srgbClr val="0D1B2A"/>
                </a:solidFill>
                <a:latin typeface="Calibri"/>
              </a:rPr>
              <a:t>ProfileEditor</a:t>
            </a:r>
          </a:p>
        </p:txBody>
      </p:sp>
      <p:sp>
        <p:nvSpPr>
          <p:cNvPr id="60" name="Rectangle 59"/>
          <p:cNvSpPr/>
          <p:nvPr/>
        </p:nvSpPr>
        <p:spPr>
          <a:xfrm>
            <a:off x="9838944" y="5212080"/>
            <a:ext cx="2002536" cy="457200"/>
          </a:xfrm>
          <a:prstGeom prst="rect">
            <a:avLst/>
          </a:prstGeom>
          <a:solidFill>
            <a:srgbClr val="EBF2FF"/>
          </a:solidFill>
          <a:ln w="6350">
            <a:solidFill>
              <a:srgbClr val="1A56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TextBox 60"/>
          <p:cNvSpPr txBox="1"/>
          <p:nvPr/>
        </p:nvSpPr>
        <p:spPr>
          <a:xfrm>
            <a:off x="9838944" y="5230368"/>
            <a:ext cx="2002536" cy="420624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/>
            <a:r>
              <a:rPr sz="1000" b="1" i="0">
                <a:solidFill>
                  <a:srgbClr val="1A56DB"/>
                </a:solidFill>
                <a:latin typeface="Consolas"/>
              </a:rPr>
              <a:t>/migrate  →  /verify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365760" y="5925312"/>
            <a:ext cx="11460175" cy="237744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/>
            <a:r>
              <a:rPr sz="1100" b="0" i="1">
                <a:solidFill>
                  <a:srgbClr val="6B7280"/>
                </a:solidFill>
                <a:latin typeface="Calibri"/>
              </a:rPr>
              <a:t>/verify enforces lint + type-check + tests + behavioural-parity + security checks (plus an advisory code-quality review) before a unit is marked done.  Per-unit git files mean zero merge conflicts.</a:t>
            </a:r>
          </a:p>
        </p:txBody>
      </p:sp>
      <p:sp>
        <p:nvSpPr>
          <p:cNvPr id="63" name="Rectangle 62"/>
          <p:cNvSpPr/>
          <p:nvPr/>
        </p:nvSpPr>
        <p:spPr>
          <a:xfrm>
            <a:off x="365760" y="6199632"/>
            <a:ext cx="11460175" cy="329184"/>
          </a:xfrm>
          <a:prstGeom prst="rect">
            <a:avLst/>
          </a:prstGeom>
          <a:solidFill>
            <a:srgbClr val="0D1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4" name="TextBox 63"/>
          <p:cNvSpPr txBox="1"/>
          <p:nvPr/>
        </p:nvSpPr>
        <p:spPr>
          <a:xfrm>
            <a:off x="457200" y="6217920"/>
            <a:ext cx="11277295" cy="292608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/>
            <a:r>
              <a:rPr sz="1100" b="1" i="0">
                <a:solidFill>
                  <a:srgbClr val="FAFBFC"/>
                </a:solidFill>
                <a:latin typeface="Calibri"/>
              </a:rPr>
              <a:t>Setup is sequential and short.  Migration is parallel and scales with team size.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1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54864" cy="960120"/>
          </a:xfrm>
          <a:prstGeom prst="rect">
            <a:avLst/>
          </a:prstGeom>
          <a:solidFill>
            <a:srgbClr val="00C2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74320" y="91440"/>
            <a:ext cx="11704320" cy="50292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/>
            <a:r>
              <a:rPr sz="2600" b="0" i="0">
                <a:solidFill>
                  <a:srgbClr val="FAFBFC"/>
                </a:solidFill>
                <a:latin typeface="Segoe UI Semibold"/>
              </a:rPr>
              <a:t>Three Verification Tiers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566928"/>
            <a:ext cx="11704320" cy="329184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200" b="0" i="1">
                <a:solidFill>
                  <a:srgbClr val="00C2CB"/>
                </a:solidFill>
                <a:latin typeface="Calibri"/>
              </a:rPr>
              <a:t>/verify runs all three in order — each tier has a different role, depth, and gate behaviour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E6EC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274320" y="6620256"/>
            <a:ext cx="9875520" cy="219456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Calibri"/>
              </a:rPr>
              <a:t>web-modernize v0.15.0   ·   Balaji Harikrishnan   ·   Cognizant   ·   June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620256"/>
            <a:ext cx="777240" cy="219456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Segoe UI Semibold"/>
              </a:rPr>
              <a:t>10  /  13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188720"/>
            <a:ext cx="11460175" cy="384048"/>
          </a:xfrm>
          <a:prstGeom prst="rect">
            <a:avLst/>
          </a:prstGeom>
          <a:solidFill>
            <a:srgbClr val="0D1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02920" y="1207008"/>
            <a:ext cx="11277295" cy="347472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/>
            <a:r>
              <a:rPr sz="1200" b="0" i="0">
                <a:solidFill>
                  <a:srgbClr val="FAFBFC"/>
                </a:solidFill>
                <a:latin typeface="Segoe UI Semibold"/>
              </a:rPr>
              <a:t>Every migrated unit passes through up to three verification layers  ·  Tier 1 blocks  ·  Tier 2 advises  ·  Tier 3 adds runtime confidence (opt-in)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1664208"/>
            <a:ext cx="3694176" cy="4407408"/>
          </a:xfrm>
          <a:prstGeom prst="rect">
            <a:avLst/>
          </a:prstGeom>
          <a:solidFill>
            <a:srgbClr val="FDEBEB"/>
          </a:solidFill>
          <a:ln w="9525">
            <a:solidFill>
              <a:srgbClr val="EF44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365760" y="1664208"/>
            <a:ext cx="3694176" cy="548640"/>
          </a:xfrm>
          <a:prstGeom prst="rect">
            <a:avLst/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57200" y="1682496"/>
            <a:ext cx="475488" cy="512064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/>
            <a:r>
              <a:rPr sz="2600" b="1" i="0">
                <a:solidFill>
                  <a:srgbClr val="FAFBFC"/>
                </a:solidFill>
                <a:latin typeface="Segoe UI Semibold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24128" y="1700784"/>
            <a:ext cx="2926080" cy="292608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/>
            <a:r>
              <a:rPr sz="1300" b="1" i="0">
                <a:solidFill>
                  <a:srgbClr val="FAFBFC"/>
                </a:solidFill>
                <a:latin typeface="Segoe UI Semibold"/>
              </a:rPr>
              <a:t>Parity + Security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24128" y="1993392"/>
            <a:ext cx="2926080" cy="18288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/>
            <a:r>
              <a:rPr sz="900" b="1" i="0">
                <a:solidFill>
                  <a:srgbClr val="FAFBFC"/>
                </a:solidFill>
                <a:latin typeface="Segoe UI Semibold"/>
              </a:rPr>
              <a:t>GATING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2304288"/>
            <a:ext cx="3374136" cy="1353312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050" b="0" i="0">
                <a:solidFill>
                  <a:srgbClr val="1F2937"/>
                </a:solidFill>
                <a:latin typeface="Calibri"/>
              </a:rPr>
              <a:t>A read-only AI (parity-reviewer) compares migrated code vs the legacy original across validation logic, output shape, error handling, UI structure, and five security dimensions: dropped auth, injection, encoding, CSRF, and exposed secrets.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3730752"/>
            <a:ext cx="201168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000" b="1" i="0">
                <a:solidFill>
                  <a:srgbClr val="EF4444"/>
                </a:solidFill>
                <a:latin typeface="Calibri"/>
              </a:rPr>
              <a:t>▸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8096" y="3730752"/>
            <a:ext cx="3163824" cy="402336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000" b="0" i="0">
                <a:solidFill>
                  <a:srgbClr val="1F2937"/>
                </a:solidFill>
                <a:latin typeface="Calibri"/>
              </a:rPr>
              <a:t>Behavioural diff: logic, responses, error shapes match legacy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4151376"/>
            <a:ext cx="201168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000" b="1" i="0">
                <a:solidFill>
                  <a:srgbClr val="EF4444"/>
                </a:solidFill>
                <a:latin typeface="Calibri"/>
              </a:rPr>
              <a:t>▸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8096" y="4151376"/>
            <a:ext cx="3163824" cy="402336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000" b="0" i="0">
                <a:solidFill>
                  <a:srgbClr val="1F2937"/>
                </a:solidFill>
                <a:latin typeface="Calibri"/>
              </a:rPr>
              <a:t>Security: auth, injection, encoding, CSRF, secret leakage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4572000"/>
            <a:ext cx="201168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000" b="1" i="0">
                <a:solidFill>
                  <a:srgbClr val="EF4444"/>
                </a:solidFill>
                <a:latin typeface="Calibri"/>
              </a:rPr>
              <a:t>▸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68096" y="4572000"/>
            <a:ext cx="3163824" cy="402336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000" b="0" i="0">
                <a:solidFill>
                  <a:srgbClr val="1F2937"/>
                </a:solidFill>
                <a:latin typeface="Calibri"/>
              </a:rPr>
              <a:t>Adversarial refute pass on every high-severity finding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4992624"/>
            <a:ext cx="201168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000" b="1" i="0">
                <a:solidFill>
                  <a:srgbClr val="EF4444"/>
                </a:solidFill>
                <a:latin typeface="Calibri"/>
              </a:rPr>
              <a:t>▸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8096" y="4992624"/>
            <a:ext cx="3163824" cy="402336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000" b="0" i="0">
                <a:solidFill>
                  <a:srgbClr val="1F2937"/>
                </a:solidFill>
                <a:latin typeface="Calibri"/>
              </a:rPr>
              <a:t>Unacknowledged highs BLOCK the unit from being verified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75488" y="5596128"/>
            <a:ext cx="3474720" cy="384048"/>
          </a:xfrm>
          <a:prstGeom prst="rect">
            <a:avLst/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475488" y="5614416"/>
            <a:ext cx="3474720" cy="347472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/>
            <a:r>
              <a:rPr sz="1000" b="1" i="0">
                <a:solidFill>
                  <a:srgbClr val="FAFBFC"/>
                </a:solidFill>
                <a:latin typeface="Consolas"/>
              </a:rPr>
              <a:t>/verify  ·  /parity-check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242816" y="1664208"/>
            <a:ext cx="3694176" cy="4407408"/>
          </a:xfrm>
          <a:prstGeom prst="rect">
            <a:avLst/>
          </a:prstGeom>
          <a:solidFill>
            <a:srgbClr val="EBF2FF"/>
          </a:solidFill>
          <a:ln w="9525">
            <a:solidFill>
              <a:srgbClr val="1A56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4242816" y="1664208"/>
            <a:ext cx="3694176" cy="548640"/>
          </a:xfrm>
          <a:prstGeom prst="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4334256" y="1682496"/>
            <a:ext cx="475488" cy="512064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/>
            <a:r>
              <a:rPr sz="2600" b="1" i="0">
                <a:solidFill>
                  <a:srgbClr val="FAFBFC"/>
                </a:solidFill>
                <a:latin typeface="Segoe UI Semibold"/>
              </a:rP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901184" y="1700784"/>
            <a:ext cx="2926080" cy="292608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/>
            <a:r>
              <a:rPr sz="1300" b="1" i="0">
                <a:solidFill>
                  <a:srgbClr val="FAFBFC"/>
                </a:solidFill>
                <a:latin typeface="Segoe UI Semibold"/>
              </a:rPr>
              <a:t>Quality + Static Perf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901184" y="1993392"/>
            <a:ext cx="2926080" cy="18288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/>
            <a:r>
              <a:rPr sz="900" b="1" i="0">
                <a:solidFill>
                  <a:srgbClr val="FAFBFC"/>
                </a:solidFill>
                <a:latin typeface="Segoe UI Semibold"/>
              </a:rPr>
              <a:t>ADVISORY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425696" y="2304288"/>
            <a:ext cx="3374136" cy="1353312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050" b="0" i="0">
                <a:solidFill>
                  <a:srgbClr val="1F2937"/>
                </a:solidFill>
                <a:latin typeface="Calibri"/>
              </a:rPr>
              <a:t>A read-only AI (migration-critic) reviews for two orthogonal concerns: idiomatic quality (legacy patterns leaking into modern code, e.g. jQuery patterns in React) and static-performance regressions detectable without running the app.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425696" y="3730752"/>
            <a:ext cx="201168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000" b="1" i="0">
                <a:solidFill>
                  <a:srgbClr val="1A56DB"/>
                </a:solidFill>
                <a:latin typeface="Calibri"/>
              </a:rPr>
              <a:t>▸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645152" y="3730752"/>
            <a:ext cx="3163824" cy="402336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000" b="0" i="0">
                <a:solidFill>
                  <a:srgbClr val="1F2937"/>
                </a:solidFill>
                <a:latin typeface="Calibri"/>
              </a:rPr>
              <a:t>Idiomatic review: legacy paradigm leakage in modern code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425696" y="4151376"/>
            <a:ext cx="201168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000" b="1" i="0">
                <a:solidFill>
                  <a:srgbClr val="1A56DB"/>
                </a:solidFill>
                <a:latin typeface="Calibri"/>
              </a:rPr>
              <a:t>▸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645152" y="4151376"/>
            <a:ext cx="3163824" cy="402336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000" b="0" i="0">
                <a:solidFill>
                  <a:srgbClr val="1F2937"/>
                </a:solidFill>
                <a:latin typeface="Calibri"/>
              </a:rPr>
              <a:t>N+1 queries, unbounded data fetches, waterfall I/O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425696" y="4572000"/>
            <a:ext cx="201168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000" b="1" i="0">
                <a:solidFill>
                  <a:srgbClr val="1A56DB"/>
                </a:solidFill>
                <a:latin typeface="Calibri"/>
              </a:rPr>
              <a:t>▸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645152" y="4572000"/>
            <a:ext cx="3163824" cy="402336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000" b="0" i="0">
                <a:solidFill>
                  <a:srgbClr val="1F2937"/>
                </a:solidFill>
                <a:latin typeface="Calibri"/>
              </a:rPr>
              <a:t>Bundle bloat and blocking synchronous operations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425696" y="4992624"/>
            <a:ext cx="201168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000" b="1" i="0">
                <a:solidFill>
                  <a:srgbClr val="1A56DB"/>
                </a:solidFill>
                <a:latin typeface="Calibri"/>
              </a:rPr>
              <a:t>▸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645152" y="4992624"/>
            <a:ext cx="3163824" cy="402336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000" b="0" i="0">
                <a:solidFill>
                  <a:srgbClr val="1F2937"/>
                </a:solidFill>
                <a:latin typeface="Calibri"/>
              </a:rPr>
              <a:t>Findings reported to the developer — never blocks migration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352544" y="5596128"/>
            <a:ext cx="3474720" cy="384048"/>
          </a:xfrm>
          <a:prstGeom prst="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4352544" y="5614416"/>
            <a:ext cx="3474720" cy="347472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/>
            <a:r>
              <a:rPr sz="1000" b="1" i="0">
                <a:solidFill>
                  <a:srgbClr val="FAFBFC"/>
                </a:solidFill>
                <a:latin typeface="Consolas"/>
              </a:rPr>
              <a:t>/verify  ·  /quality-check</a:t>
            </a:r>
          </a:p>
        </p:txBody>
      </p:sp>
      <p:sp>
        <p:nvSpPr>
          <p:cNvPr id="44" name="Rectangle 43"/>
          <p:cNvSpPr/>
          <p:nvPr/>
        </p:nvSpPr>
        <p:spPr>
          <a:xfrm>
            <a:off x="8119872" y="1664208"/>
            <a:ext cx="3694176" cy="4407408"/>
          </a:xfrm>
          <a:prstGeom prst="rect">
            <a:avLst/>
          </a:prstGeom>
          <a:solidFill>
            <a:srgbClr val="F3E8FF"/>
          </a:solidFill>
          <a:ln w="9525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Rectangle 44"/>
          <p:cNvSpPr/>
          <p:nvPr/>
        </p:nvSpPr>
        <p:spPr>
          <a:xfrm>
            <a:off x="8119872" y="1664208"/>
            <a:ext cx="3694176" cy="54864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8211312" y="1682496"/>
            <a:ext cx="475488" cy="512064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/>
            <a:r>
              <a:rPr sz="2600" b="1" i="0">
                <a:solidFill>
                  <a:srgbClr val="FAFBFC"/>
                </a:solidFill>
                <a:latin typeface="Segoe UI Semibold"/>
              </a:rPr>
              <a:t>3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778240" y="1700784"/>
            <a:ext cx="2926080" cy="292608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/>
            <a:r>
              <a:rPr sz="1300" b="1" i="0">
                <a:solidFill>
                  <a:srgbClr val="FAFBFC"/>
                </a:solidFill>
                <a:latin typeface="Segoe UI Semibold"/>
              </a:rPr>
              <a:t>Dynamic Testing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778240" y="1993392"/>
            <a:ext cx="2926080" cy="18288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/>
            <a:r>
              <a:rPr sz="900" b="1" i="0">
                <a:solidFill>
                  <a:srgbClr val="FAFBFC"/>
                </a:solidFill>
                <a:latin typeface="Segoe UI Semibold"/>
              </a:rPr>
              <a:t>OPT-IN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302752" y="2304288"/>
            <a:ext cx="3374136" cy="1353312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050" b="0" i="0">
                <a:solidFill>
                  <a:srgbClr val="1F2937"/>
                </a:solidFill>
                <a:latin typeface="Calibri"/>
              </a:rPr>
              <a:t>Runtime verification enabled per migration in migration.md §12 or with --dynamic. Adds two phases on top of the static tiers: recorded-baseline API replay against the new API, and browser-driven Playwright end-to-end tests.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302752" y="3730752"/>
            <a:ext cx="201168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000" b="1" i="0">
                <a:solidFill>
                  <a:srgbClr val="7C3AED"/>
                </a:solidFill>
                <a:latin typeface="Calibri"/>
              </a:rPr>
              <a:t>▸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522208" y="3730752"/>
            <a:ext cx="3163824" cy="402336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000" b="0" i="0">
                <a:solidFill>
                  <a:srgbClr val="1F2937"/>
                </a:solidFill>
                <a:latin typeface="Calibri"/>
              </a:rPr>
              <a:t>API replay: records legacy responses, diffs new API outputs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302752" y="4151376"/>
            <a:ext cx="201168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000" b="1" i="0">
                <a:solidFill>
                  <a:srgbClr val="7C3AED"/>
                </a:solidFill>
                <a:latin typeface="Calibri"/>
              </a:rPr>
              <a:t>▸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522208" y="4151376"/>
            <a:ext cx="3163824" cy="402336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000" b="0" i="0">
                <a:solidFill>
                  <a:srgbClr val="1F2937"/>
                </a:solidFill>
                <a:latin typeface="Calibri"/>
              </a:rPr>
              <a:t>Playwright E2E: browser-driven suite vs the running new app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302752" y="4572000"/>
            <a:ext cx="201168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000" b="1" i="0">
                <a:solidFill>
                  <a:srgbClr val="7C3AED"/>
                </a:solidFill>
                <a:latin typeface="Calibri"/>
              </a:rPr>
              <a:t>▸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522208" y="4572000"/>
            <a:ext cx="3163824" cy="402336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000" b="0" i="0">
                <a:solidFill>
                  <a:srgbClr val="1F2937"/>
                </a:solidFill>
                <a:latin typeface="Calibri"/>
              </a:rPr>
              <a:t>Enable with /verify --dynamic or migration.md §12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302752" y="4992624"/>
            <a:ext cx="201168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000" b="1" i="0">
                <a:solidFill>
                  <a:srgbClr val="7C3AED"/>
                </a:solidFill>
                <a:latin typeface="Calibri"/>
              </a:rPr>
              <a:t>▸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522208" y="4992624"/>
            <a:ext cx="3163824" cy="402336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000" b="0" i="0">
                <a:solidFill>
                  <a:srgbClr val="1F2937"/>
                </a:solidFill>
                <a:latin typeface="Calibri"/>
              </a:rPr>
              <a:t>Run --capture-baseline before the first comparison</a:t>
            </a:r>
          </a:p>
        </p:txBody>
      </p:sp>
      <p:sp>
        <p:nvSpPr>
          <p:cNvPr id="58" name="Rectangle 57"/>
          <p:cNvSpPr/>
          <p:nvPr/>
        </p:nvSpPr>
        <p:spPr>
          <a:xfrm>
            <a:off x="8229600" y="5596128"/>
            <a:ext cx="3474720" cy="38404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TextBox 58"/>
          <p:cNvSpPr txBox="1"/>
          <p:nvPr/>
        </p:nvSpPr>
        <p:spPr>
          <a:xfrm>
            <a:off x="8229600" y="5614416"/>
            <a:ext cx="3474720" cy="347472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/>
            <a:r>
              <a:rPr sz="1000" b="1" i="0">
                <a:solidFill>
                  <a:srgbClr val="FAFBFC"/>
                </a:solidFill>
                <a:latin typeface="Consolas"/>
              </a:rPr>
              <a:t>/verify --dynamic  ·  --capture-baseline</a:t>
            </a:r>
          </a:p>
        </p:txBody>
      </p:sp>
      <p:sp>
        <p:nvSpPr>
          <p:cNvPr id="60" name="Rectangle 59"/>
          <p:cNvSpPr/>
          <p:nvPr/>
        </p:nvSpPr>
        <p:spPr>
          <a:xfrm>
            <a:off x="365760" y="6199632"/>
            <a:ext cx="11460175" cy="329184"/>
          </a:xfrm>
          <a:prstGeom prst="rect">
            <a:avLst/>
          </a:prstGeom>
          <a:solidFill>
            <a:srgbClr val="0D1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TextBox 60"/>
          <p:cNvSpPr txBox="1"/>
          <p:nvPr/>
        </p:nvSpPr>
        <p:spPr>
          <a:xfrm>
            <a:off x="457200" y="6217920"/>
            <a:ext cx="11277295" cy="292608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/>
            <a:r>
              <a:rPr sz="1100" b="1" i="0">
                <a:solidFill>
                  <a:srgbClr val="FAFBFC"/>
                </a:solidFill>
                <a:latin typeface="Calibri"/>
              </a:rPr>
              <a:t>Tier 1 guards correctness and security.  Tier 2 guards code quality and performance.  Tier 3 adds runtime confidence.  Any combination is valid.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1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54864" cy="960120"/>
          </a:xfrm>
          <a:prstGeom prst="rect">
            <a:avLst/>
          </a:prstGeom>
          <a:solidFill>
            <a:srgbClr val="00C2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74320" y="91440"/>
            <a:ext cx="11704320" cy="50292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/>
            <a:r>
              <a:rPr sz="2600" b="0" i="0">
                <a:solidFill>
                  <a:srgbClr val="FAFBFC"/>
                </a:solidFill>
                <a:latin typeface="Segoe UI Semibold"/>
              </a:rPr>
              <a:t>The 18 Skills  (Slash Commands)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566928"/>
            <a:ext cx="11704320" cy="329184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200" b="0" i="1">
                <a:solidFill>
                  <a:srgbClr val="00C2CB"/>
                </a:solidFill>
                <a:latin typeface="Calibri"/>
              </a:rPr>
              <a:t>Each skill is exposed as a slash command — or auto-fires from plain English (see slide 3)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E6EC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274320" y="6620256"/>
            <a:ext cx="9875520" cy="219456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Calibri"/>
              </a:rPr>
              <a:t>web-modernize v0.15.0   ·   Balaji Harikrishnan   ·   Cognizant   ·   June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620256"/>
            <a:ext cx="777240" cy="219456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Segoe UI Semibold"/>
              </a:rPr>
              <a:t>11  /  13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65760" y="1152144"/>
          <a:ext cx="11460174" cy="52989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6283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39734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78892">
                <a:tc>
                  <a:txBody>
                    <a:bodyPr/>
                    <a:lstStyle/>
                    <a:p>
                      <a:pPr algn="l"/>
                      <a:r>
                        <a:rPr sz="1300" b="0" i="0">
                          <a:solidFill>
                            <a:srgbClr val="FAFBFC"/>
                          </a:solidFill>
                          <a:latin typeface="Segoe UI Semibold"/>
                        </a:rPr>
                        <a:t>Command</a:t>
                      </a:r>
                    </a:p>
                  </a:txBody>
                  <a:tcPr marL="73152" marR="73152" marT="18288" marB="18288" anchor="ctr">
                    <a:solidFill>
                      <a:srgbClr val="1A56D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 i="0">
                          <a:solidFill>
                            <a:srgbClr val="FAFBFC"/>
                          </a:solidFill>
                          <a:latin typeface="Segoe UI Semibold"/>
                        </a:rPr>
                        <a:t>What It Does (Plain English)</a:t>
                      </a:r>
                    </a:p>
                  </a:txBody>
                  <a:tcPr marL="73152" marR="73152" marT="18288" marB="18288" anchor="ctr">
                    <a:solidFill>
                      <a:srgbClr val="1A56D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8892">
                <a:tc>
                  <a:txBody>
                    <a:bodyPr/>
                    <a:lstStyle/>
                    <a:p>
                      <a:pPr algn="l"/>
                      <a:r>
                        <a:rPr sz="1000" b="1" i="0">
                          <a:solidFill>
                            <a:srgbClr val="1A56DB"/>
                          </a:solidFill>
                          <a:latin typeface="Consolas"/>
                        </a:rPr>
                        <a:t>/init</a:t>
                      </a:r>
                    </a:p>
                  </a:txBody>
                  <a:tcPr marL="73152" marR="73152" marT="18288" marB="18288" anchor="ctr"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937"/>
                          </a:solidFill>
                          <a:latin typeface="Calibri"/>
                        </a:rPr>
                        <a:t>Sets up the migration workspace inside the legacy repository.</a:t>
                      </a:r>
                    </a:p>
                  </a:txBody>
                  <a:tcPr marL="73152" marR="73152" marT="18288" marB="18288" anchor="ctr">
                    <a:solidFill>
                      <a:srgbClr val="FAFB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8892">
                <a:tc>
                  <a:txBody>
                    <a:bodyPr/>
                    <a:lstStyle/>
                    <a:p>
                      <a:pPr algn="l"/>
                      <a:r>
                        <a:rPr sz="1000" b="1" i="0">
                          <a:solidFill>
                            <a:srgbClr val="1A56DB"/>
                          </a:solidFill>
                          <a:latin typeface="Consolas"/>
                        </a:rPr>
                        <a:t>/analyze</a:t>
                      </a:r>
                    </a:p>
                  </a:txBody>
                  <a:tcPr marL="73152" marR="73152" marT="18288" marB="18288" anchor="ctr">
                    <a:solidFill>
                      <a:srgbClr val="EBF2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937"/>
                          </a:solidFill>
                          <a:latin typeface="Calibri"/>
                        </a:rPr>
                        <a:t>Auto-detects the legacy technology stack and inventories every component.</a:t>
                      </a:r>
                    </a:p>
                  </a:txBody>
                  <a:tcPr marL="73152" marR="73152" marT="18288" marB="18288" anchor="ctr">
                    <a:solidFill>
                      <a:srgbClr val="EBF2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8892">
                <a:tc>
                  <a:txBody>
                    <a:bodyPr/>
                    <a:lstStyle/>
                    <a:p>
                      <a:pPr algn="l"/>
                      <a:r>
                        <a:rPr sz="1000" b="1" i="0">
                          <a:solidFill>
                            <a:srgbClr val="1A56DB"/>
                          </a:solidFill>
                          <a:latin typeface="Consolas"/>
                        </a:rPr>
                        <a:t>/plan</a:t>
                      </a:r>
                    </a:p>
                  </a:txBody>
                  <a:tcPr marL="73152" marR="73152" marT="18288" marB="18288" anchor="ctr"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937"/>
                          </a:solidFill>
                          <a:latin typeface="Calibri"/>
                        </a:rPr>
                        <a:t>Validates the config and generates the full migration backlog — one item per page or feature.</a:t>
                      </a:r>
                    </a:p>
                  </a:txBody>
                  <a:tcPr marL="73152" marR="73152" marT="18288" marB="18288" anchor="ctr">
                    <a:solidFill>
                      <a:srgbClr val="FAFB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8892">
                <a:tc>
                  <a:txBody>
                    <a:bodyPr/>
                    <a:lstStyle/>
                    <a:p>
                      <a:pPr algn="l"/>
                      <a:r>
                        <a:rPr sz="1000" b="1" i="0">
                          <a:solidFill>
                            <a:srgbClr val="1A56DB"/>
                          </a:solidFill>
                          <a:latin typeface="Consolas"/>
                        </a:rPr>
                        <a:t>/scaffold</a:t>
                      </a:r>
                    </a:p>
                  </a:txBody>
                  <a:tcPr marL="73152" marR="73152" marT="18288" marB="18288" anchor="ctr">
                    <a:solidFill>
                      <a:srgbClr val="EBF2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937"/>
                          </a:solidFill>
                          <a:latin typeface="Calibri"/>
                        </a:rPr>
                        <a:t>Creates the blank modern application skeleton and copies legacy images, fonts, and assets.</a:t>
                      </a:r>
                    </a:p>
                  </a:txBody>
                  <a:tcPr marL="73152" marR="73152" marT="18288" marB="18288" anchor="ctr">
                    <a:solidFill>
                      <a:srgbClr val="EBF2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78892">
                <a:tc>
                  <a:txBody>
                    <a:bodyPr/>
                    <a:lstStyle/>
                    <a:p>
                      <a:pPr algn="l"/>
                      <a:r>
                        <a:rPr sz="1000" b="1" i="0">
                          <a:solidFill>
                            <a:srgbClr val="1A56DB"/>
                          </a:solidFill>
                          <a:latin typeface="Consolas"/>
                        </a:rPr>
                        <a:t>/foundation</a:t>
                      </a:r>
                    </a:p>
                  </a:txBody>
                  <a:tcPr marL="73152" marR="73152" marT="18288" marB="18288" anchor="ctr"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937"/>
                          </a:solidFill>
                          <a:latin typeface="Calibri"/>
                        </a:rPr>
                        <a:t>Establishes the foundational slice first — login/auth plus opted-in cross-cutting concerns (i18n, feature flags, error handling, telemetry, logging, data-access wiring) — via one consolidated design-approval gate, implemented in parallel.</a:t>
                      </a:r>
                    </a:p>
                  </a:txBody>
                  <a:tcPr marL="73152" marR="73152" marT="18288" marB="18288" anchor="ctr">
                    <a:solidFill>
                      <a:srgbClr val="FAFB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78892">
                <a:tc>
                  <a:txBody>
                    <a:bodyPr/>
                    <a:lstStyle/>
                    <a:p>
                      <a:pPr algn="l"/>
                      <a:r>
                        <a:rPr sz="1000" b="1" i="0">
                          <a:solidFill>
                            <a:srgbClr val="1A56DB"/>
                          </a:solidFill>
                          <a:latin typeface="Consolas"/>
                        </a:rPr>
                        <a:t>/next</a:t>
                      </a:r>
                    </a:p>
                  </a:txBody>
                  <a:tcPr marL="73152" marR="73152" marT="18288" marB="18288" anchor="ctr">
                    <a:solidFill>
                      <a:srgbClr val="EBF2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937"/>
                          </a:solidFill>
                          <a:latin typeface="Calibri"/>
                        </a:rPr>
                        <a:t>Picks the next available unit from the backlog and migrates it — presenting a plan for approval first (opt-out).</a:t>
                      </a:r>
                    </a:p>
                  </a:txBody>
                  <a:tcPr marL="73152" marR="73152" marT="18288" marB="18288" anchor="ctr">
                    <a:solidFill>
                      <a:srgbClr val="EBF2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78892">
                <a:tc>
                  <a:txBody>
                    <a:bodyPr/>
                    <a:lstStyle/>
                    <a:p>
                      <a:pPr algn="l"/>
                      <a:r>
                        <a:rPr sz="1000" b="1" i="0">
                          <a:solidFill>
                            <a:srgbClr val="1A56DB"/>
                          </a:solidFill>
                          <a:latin typeface="Consolas"/>
                        </a:rPr>
                        <a:t>/migrate</a:t>
                      </a:r>
                    </a:p>
                  </a:txBody>
                  <a:tcPr marL="73152" marR="73152" marT="18288" marB="18288" anchor="ctr"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937"/>
                          </a:solidFill>
                          <a:latin typeface="Calibri"/>
                        </a:rPr>
                        <a:t>Migrates a specific unit by name — used when standup assigns work.</a:t>
                      </a:r>
                    </a:p>
                  </a:txBody>
                  <a:tcPr marL="73152" marR="73152" marT="18288" marB="18288" anchor="ctr">
                    <a:solidFill>
                      <a:srgbClr val="FAFB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78892">
                <a:tc>
                  <a:txBody>
                    <a:bodyPr/>
                    <a:lstStyle/>
                    <a:p>
                      <a:pPr algn="l"/>
                      <a:r>
                        <a:rPr sz="1000" b="1" i="0">
                          <a:solidFill>
                            <a:srgbClr val="1A56DB"/>
                          </a:solidFill>
                          <a:latin typeface="Consolas"/>
                        </a:rPr>
                        <a:t>/verify</a:t>
                      </a:r>
                    </a:p>
                  </a:txBody>
                  <a:tcPr marL="73152" marR="73152" marT="18288" marB="18288" anchor="ctr">
                    <a:solidFill>
                      <a:srgbClr val="EBF2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937"/>
                          </a:solidFill>
                          <a:latin typeface="Calibri"/>
                        </a:rPr>
                        <a:t>Runs lint, type-check, tests, a behavioural-parity + security gate, and advisory code-quality + static-performance review; an opt-in dynamic tier (API replay + Playwright E2E) adds runtime checks.</a:t>
                      </a:r>
                    </a:p>
                  </a:txBody>
                  <a:tcPr marL="73152" marR="73152" marT="18288" marB="18288" anchor="ctr">
                    <a:solidFill>
                      <a:srgbClr val="EBF2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78892">
                <a:tc>
                  <a:txBody>
                    <a:bodyPr/>
                    <a:lstStyle/>
                    <a:p>
                      <a:pPr algn="l"/>
                      <a:r>
                        <a:rPr sz="1000" b="1" i="0">
                          <a:solidFill>
                            <a:srgbClr val="1A56DB"/>
                          </a:solidFill>
                          <a:latin typeface="Consolas"/>
                        </a:rPr>
                        <a:t>/parity-check</a:t>
                      </a:r>
                    </a:p>
                  </a:txBody>
                  <a:tcPr marL="73152" marR="73152" marT="18288" marB="18288" anchor="ctr"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937"/>
                          </a:solidFill>
                          <a:latin typeface="Calibri"/>
                        </a:rPr>
                        <a:t>Compares a migrated unit's behaviour against the legacy original — validation, output shape, errors, UI states, security — and lets the team acknowledge intentional differences.</a:t>
                      </a:r>
                    </a:p>
                  </a:txBody>
                  <a:tcPr marL="73152" marR="73152" marT="18288" marB="18288" anchor="ctr">
                    <a:solidFill>
                      <a:srgbClr val="FAFB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78892">
                <a:tc>
                  <a:txBody>
                    <a:bodyPr/>
                    <a:lstStyle/>
                    <a:p>
                      <a:pPr algn="l"/>
                      <a:r>
                        <a:rPr sz="1000" b="1" i="0">
                          <a:solidFill>
                            <a:srgbClr val="1A56DB"/>
                          </a:solidFill>
                          <a:latin typeface="Consolas"/>
                        </a:rPr>
                        <a:t>/quality-check</a:t>
                      </a:r>
                    </a:p>
                  </a:txBody>
                  <a:tcPr marL="73152" marR="73152" marT="18288" marB="18288" anchor="ctr">
                    <a:solidFill>
                      <a:srgbClr val="EBF2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937"/>
                          </a:solidFill>
                          <a:latin typeface="Calibri"/>
                        </a:rPr>
                        <a:t>Advisory review of the migrated code's idiomaticity and static performance — flags legacy patterns and N+1/bundle/blocking regressions. Never blocks.</a:t>
                      </a:r>
                    </a:p>
                  </a:txBody>
                  <a:tcPr marL="73152" marR="73152" marT="18288" marB="18288" anchor="ctr">
                    <a:solidFill>
                      <a:srgbClr val="EBF2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78892">
                <a:tc>
                  <a:txBody>
                    <a:bodyPr/>
                    <a:lstStyle/>
                    <a:p>
                      <a:pPr algn="l"/>
                      <a:r>
                        <a:rPr sz="1000" b="1" i="0">
                          <a:solidFill>
                            <a:srgbClr val="1A56DB"/>
                          </a:solidFill>
                          <a:latin typeface="Consolas"/>
                        </a:rPr>
                        <a:t>/integrate</a:t>
                      </a:r>
                    </a:p>
                  </a:txBody>
                  <a:tcPr marL="73152" marR="73152" marT="18288" marB="18288" anchor="ctr"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937"/>
                          </a:solidFill>
                          <a:latin typeface="Calibri"/>
                        </a:rPr>
                        <a:t>Assembles the migrated units into the composed app — central router + nav, whole-app smoke, orphaned-unit + cutover-coverage report, and the strangler traffic-split proxy. Runs any time; idempotent.</a:t>
                      </a:r>
                    </a:p>
                  </a:txBody>
                  <a:tcPr marL="73152" marR="73152" marT="18288" marB="18288" anchor="ctr">
                    <a:solidFill>
                      <a:srgbClr val="FAFB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78892">
                <a:tc>
                  <a:txBody>
                    <a:bodyPr/>
                    <a:lstStyle/>
                    <a:p>
                      <a:pPr algn="l"/>
                      <a:r>
                        <a:rPr sz="1000" b="1" i="0">
                          <a:solidFill>
                            <a:srgbClr val="1A56DB"/>
                          </a:solidFill>
                          <a:latin typeface="Consolas"/>
                        </a:rPr>
                        <a:t>/retry</a:t>
                      </a:r>
                    </a:p>
                  </a:txBody>
                  <a:tcPr marL="73152" marR="73152" marT="18288" marB="18288" anchor="ctr">
                    <a:solidFill>
                      <a:srgbClr val="EBF2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937"/>
                          </a:solidFill>
                          <a:latin typeface="Calibri"/>
                        </a:rPr>
                        <a:t>Re-attempts a failed unit, optionally with team-supplied corrective guidance.</a:t>
                      </a:r>
                    </a:p>
                  </a:txBody>
                  <a:tcPr marL="73152" marR="73152" marT="18288" marB="18288" anchor="ctr">
                    <a:solidFill>
                      <a:srgbClr val="EBF2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78892">
                <a:tc>
                  <a:txBody>
                    <a:bodyPr/>
                    <a:lstStyle/>
                    <a:p>
                      <a:pPr algn="l"/>
                      <a:r>
                        <a:rPr sz="1000" b="1" i="0">
                          <a:solidFill>
                            <a:srgbClr val="1A56DB"/>
                          </a:solidFill>
                          <a:latin typeface="Consolas"/>
                        </a:rPr>
                        <a:t>/rollback</a:t>
                      </a:r>
                    </a:p>
                  </a:txBody>
                  <a:tcPr marL="73152" marR="73152" marT="18288" marB="18288" anchor="ctr"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937"/>
                          </a:solidFill>
                          <a:latin typeface="Calibri"/>
                        </a:rPr>
                        <a:t>Reverts a single unit back to its original state in one git command — refusing by default when it owns shared files others depend on.</a:t>
                      </a:r>
                    </a:p>
                  </a:txBody>
                  <a:tcPr marL="73152" marR="73152" marT="18288" marB="18288" anchor="ctr">
                    <a:solidFill>
                      <a:srgbClr val="FAFB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78892">
                <a:tc>
                  <a:txBody>
                    <a:bodyPr/>
                    <a:lstStyle/>
                    <a:p>
                      <a:pPr algn="l"/>
                      <a:r>
                        <a:rPr sz="1000" b="1" i="0">
                          <a:solidFill>
                            <a:srgbClr val="1A56DB"/>
                          </a:solidFill>
                          <a:latin typeface="Consolas"/>
                        </a:rPr>
                        <a:t>/sync</a:t>
                      </a:r>
                    </a:p>
                  </a:txBody>
                  <a:tcPr marL="73152" marR="73152" marT="18288" marB="18288" anchor="ctr">
                    <a:solidFill>
                      <a:srgbClr val="EBF2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937"/>
                          </a:solidFill>
                          <a:latin typeface="Calibri"/>
                        </a:rPr>
                        <a:t>Merges teammates' parallel progress into the local copy with deterministic rules.</a:t>
                      </a:r>
                    </a:p>
                  </a:txBody>
                  <a:tcPr marL="73152" marR="73152" marT="18288" marB="18288" anchor="ctr">
                    <a:solidFill>
                      <a:srgbClr val="EBF2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78892">
                <a:tc>
                  <a:txBody>
                    <a:bodyPr/>
                    <a:lstStyle/>
                    <a:p>
                      <a:pPr algn="l"/>
                      <a:r>
                        <a:rPr sz="1000" b="1" i="0">
                          <a:solidFill>
                            <a:srgbClr val="1A56DB"/>
                          </a:solidFill>
                          <a:latin typeface="Consolas"/>
                        </a:rPr>
                        <a:t>/report</a:t>
                      </a:r>
                    </a:p>
                  </a:txBody>
                  <a:tcPr marL="73152" marR="73152" marT="18288" marB="18288" anchor="ctr"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937"/>
                          </a:solidFill>
                          <a:latin typeface="Calibri"/>
                        </a:rPr>
                        <a:t>Generates a stakeholder report — burndown, ETA, risk — in Markdown, JSON, or HTML.</a:t>
                      </a:r>
                    </a:p>
                  </a:txBody>
                  <a:tcPr marL="73152" marR="73152" marT="18288" marB="18288" anchor="ctr">
                    <a:solidFill>
                      <a:srgbClr val="FAFB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278892">
                <a:tc>
                  <a:txBody>
                    <a:bodyPr/>
                    <a:lstStyle/>
                    <a:p>
                      <a:pPr algn="l"/>
                      <a:r>
                        <a:rPr sz="1000" b="1" i="0">
                          <a:solidFill>
                            <a:srgbClr val="1A56DB"/>
                          </a:solidFill>
                          <a:latin typeface="Consolas"/>
                        </a:rPr>
                        <a:t>/status</a:t>
                      </a:r>
                    </a:p>
                  </a:txBody>
                  <a:tcPr marL="73152" marR="73152" marT="18288" marB="18288" anchor="ctr">
                    <a:solidFill>
                      <a:srgbClr val="EBF2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937"/>
                          </a:solidFill>
                          <a:latin typeface="Calibri"/>
                        </a:rPr>
                        <a:t>Shows a real-time dashboard of every unit, owner, and blocker (read-only).</a:t>
                      </a:r>
                    </a:p>
                  </a:txBody>
                  <a:tcPr marL="73152" marR="73152" marT="18288" marB="18288" anchor="ctr">
                    <a:solidFill>
                      <a:srgbClr val="EBF2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278892">
                <a:tc>
                  <a:txBody>
                    <a:bodyPr/>
                    <a:lstStyle/>
                    <a:p>
                      <a:pPr algn="l"/>
                      <a:r>
                        <a:rPr sz="1000" b="1" i="0">
                          <a:solidFill>
                            <a:srgbClr val="1A56DB"/>
                          </a:solidFill>
                          <a:latin typeface="Consolas"/>
                        </a:rPr>
                        <a:t>/unlock</a:t>
                      </a:r>
                    </a:p>
                  </a:txBody>
                  <a:tcPr marL="73152" marR="73152" marT="18288" marB="18288" anchor="ctr"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937"/>
                          </a:solidFill>
                          <a:latin typeface="Calibri"/>
                        </a:rPr>
                        <a:t>Force-clears a stuck advisory lock left behind by a crashed session.</a:t>
                      </a:r>
                    </a:p>
                  </a:txBody>
                  <a:tcPr marL="73152" marR="73152" marT="18288" marB="18288" anchor="ctr">
                    <a:solidFill>
                      <a:srgbClr val="FAFB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278892">
                <a:tc>
                  <a:txBody>
                    <a:bodyPr/>
                    <a:lstStyle/>
                    <a:p>
                      <a:pPr algn="l"/>
                      <a:r>
                        <a:rPr sz="1000" b="1" i="0">
                          <a:solidFill>
                            <a:srgbClr val="1A56DB"/>
                          </a:solidFill>
                          <a:latin typeface="Consolas"/>
                        </a:rPr>
                        <a:t>/abandon</a:t>
                      </a:r>
                    </a:p>
                  </a:txBody>
                  <a:tcPr marL="73152" marR="73152" marT="18288" marB="18288" anchor="ctr">
                    <a:solidFill>
                      <a:srgbClr val="EBF2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937"/>
                          </a:solidFill>
                          <a:latin typeface="Calibri"/>
                        </a:rPr>
                        <a:t>Formally drops a unit or resets the workspace — requires two-step confirmation.</a:t>
                      </a:r>
                    </a:p>
                  </a:txBody>
                  <a:tcPr marL="73152" marR="73152" marT="18288" marB="18288" anchor="ctr">
                    <a:solidFill>
                      <a:srgbClr val="EBF2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1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54864" cy="960120"/>
          </a:xfrm>
          <a:prstGeom prst="rect">
            <a:avLst/>
          </a:prstGeom>
          <a:solidFill>
            <a:srgbClr val="00C2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74320" y="91440"/>
            <a:ext cx="11704320" cy="50292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/>
            <a:r>
              <a:rPr sz="2600" b="0" i="0">
                <a:solidFill>
                  <a:srgbClr val="FAFBFC"/>
                </a:solidFill>
                <a:latin typeface="Segoe UI Semibold"/>
              </a:rPr>
              <a:t>Agents · Hooks · Templates · Framework Library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566928"/>
            <a:ext cx="11704320" cy="329184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200" b="0" i="1">
                <a:solidFill>
                  <a:srgbClr val="00C2CB"/>
                </a:solidFill>
                <a:latin typeface="Calibri"/>
              </a:rPr>
              <a:t>Every other custom artifact built into the plugin — one English sentence each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E6EC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274320" y="6620256"/>
            <a:ext cx="9875520" cy="219456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Calibri"/>
              </a:rPr>
              <a:t>web-modernize v0.15.0   ·   Balaji Harikrishnan   ·   Cognizant   ·   June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620256"/>
            <a:ext cx="777240" cy="219456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Segoe UI Semibold"/>
              </a:rPr>
              <a:t>12  /  13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1097280"/>
            <a:ext cx="114300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400" b="0" i="0">
                <a:solidFill>
                  <a:srgbClr val="1A56DB"/>
                </a:solidFill>
                <a:latin typeface="Segoe UI Semibold"/>
              </a:rPr>
              <a:t>6 AI Agents   (specialised AIs that read your code, translate it, verify behaviour, quality &amp; performance, and steer around known pitfalls)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65760" y="1371600"/>
          <a:ext cx="11460174" cy="13761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2123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93893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96596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FAFBFC"/>
                          </a:solidFill>
                          <a:latin typeface="Segoe UI Semibold"/>
                        </a:rPr>
                        <a:t>Agent</a:t>
                      </a:r>
                    </a:p>
                  </a:txBody>
                  <a:tcPr marL="73152" marR="73152" marT="18288" marB="18288" anchor="ctr">
                    <a:solidFill>
                      <a:srgbClr val="1A56D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FAFBFC"/>
                          </a:solidFill>
                          <a:latin typeface="Segoe UI Semibold"/>
                        </a:rPr>
                        <a:t>What It Does</a:t>
                      </a:r>
                    </a:p>
                  </a:txBody>
                  <a:tcPr marL="73152" marR="73152" marT="18288" marB="18288" anchor="ctr">
                    <a:solidFill>
                      <a:srgbClr val="1A56D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96596">
                <a:tc>
                  <a:txBody>
                    <a:bodyPr/>
                    <a:lstStyle/>
                    <a:p>
                      <a:pPr algn="l"/>
                      <a:r>
                        <a:rPr sz="1000" b="1" i="0">
                          <a:solidFill>
                            <a:srgbClr val="1A56DB"/>
                          </a:solidFill>
                          <a:latin typeface="Consolas"/>
                        </a:rPr>
                        <a:t>legacy-analyzer</a:t>
                      </a:r>
                    </a:p>
                  </a:txBody>
                  <a:tcPr marL="73152" marR="73152" marT="18288" marB="18288" anchor="ctr"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937"/>
                          </a:solidFill>
                          <a:latin typeface="Calibri"/>
                        </a:rPr>
                        <a:t>Read-only AI agent that inspects the legacy codebase and produces a structured stack inventory.</a:t>
                      </a:r>
                    </a:p>
                  </a:txBody>
                  <a:tcPr marL="73152" marR="73152" marT="18288" marB="18288" anchor="ctr">
                    <a:solidFill>
                      <a:srgbClr val="FAFB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96596">
                <a:tc>
                  <a:txBody>
                    <a:bodyPr/>
                    <a:lstStyle/>
                    <a:p>
                      <a:pPr algn="l"/>
                      <a:r>
                        <a:rPr sz="1000" b="1" i="0">
                          <a:solidFill>
                            <a:srgbClr val="1A56DB"/>
                          </a:solidFill>
                          <a:latin typeface="Consolas"/>
                        </a:rPr>
                        <a:t>unit-migrator</a:t>
                      </a:r>
                    </a:p>
                  </a:txBody>
                  <a:tcPr marL="73152" marR="73152" marT="18288" marB="18288" anchor="ctr">
                    <a:solidFill>
                      <a:srgbClr val="EBF2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937"/>
                          </a:solidFill>
                          <a:latin typeface="Calibri"/>
                        </a:rPr>
                        <a:t>Core migration engine that translates one page or feature from legacy code to the modern target stack.</a:t>
                      </a:r>
                    </a:p>
                  </a:txBody>
                  <a:tcPr marL="73152" marR="73152" marT="18288" marB="18288" anchor="ctr">
                    <a:solidFill>
                      <a:srgbClr val="EBF2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96596">
                <a:tc>
                  <a:txBody>
                    <a:bodyPr/>
                    <a:lstStyle/>
                    <a:p>
                      <a:pPr algn="l"/>
                      <a:r>
                        <a:rPr sz="1000" b="1" i="0">
                          <a:solidFill>
                            <a:srgbClr val="1A56DB"/>
                          </a:solidFill>
                          <a:latin typeface="Consolas"/>
                        </a:rPr>
                        <a:t>cross-cutting-migrator</a:t>
                      </a:r>
                    </a:p>
                  </a:txBody>
                  <a:tcPr marL="73152" marR="73152" marT="18288" marB="18288" anchor="ctr"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937"/>
                          </a:solidFill>
                          <a:latin typeface="Calibri"/>
                        </a:rPr>
                        <a:t>Establishes one cross-cutting concern (auth / i18n / flags / error-handling / telemetry / logging / data-wiring); fanned out in parallel by /foundation.</a:t>
                      </a:r>
                    </a:p>
                  </a:txBody>
                  <a:tcPr marL="73152" marR="73152" marT="18288" marB="18288" anchor="ctr">
                    <a:solidFill>
                      <a:srgbClr val="FAFB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96596">
                <a:tc>
                  <a:txBody>
                    <a:bodyPr/>
                    <a:lstStyle/>
                    <a:p>
                      <a:pPr algn="l"/>
                      <a:r>
                        <a:rPr sz="1000" b="1" i="0">
                          <a:solidFill>
                            <a:srgbClr val="1A56DB"/>
                          </a:solidFill>
                          <a:latin typeface="Consolas"/>
                        </a:rPr>
                        <a:t>parity-reviewer</a:t>
                      </a:r>
                    </a:p>
                  </a:txBody>
                  <a:tcPr marL="73152" marR="73152" marT="18288" marB="18288" anchor="ctr">
                    <a:solidFill>
                      <a:srgbClr val="EBF2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937"/>
                          </a:solidFill>
                          <a:latin typeface="Calibri"/>
                        </a:rPr>
                        <a:t>Read-only AI that compares migrated vs legacy for behavioural AND security differences tests can't catch.</a:t>
                      </a:r>
                    </a:p>
                  </a:txBody>
                  <a:tcPr marL="73152" marR="73152" marT="18288" marB="18288" anchor="ctr">
                    <a:solidFill>
                      <a:srgbClr val="EBF2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96596">
                <a:tc>
                  <a:txBody>
                    <a:bodyPr/>
                    <a:lstStyle/>
                    <a:p>
                      <a:pPr algn="l"/>
                      <a:r>
                        <a:rPr sz="1000" b="1" i="0">
                          <a:solidFill>
                            <a:srgbClr val="1A56DB"/>
                          </a:solidFill>
                          <a:latin typeface="Consolas"/>
                        </a:rPr>
                        <a:t>migration-critic</a:t>
                      </a:r>
                    </a:p>
                  </a:txBody>
                  <a:tcPr marL="73152" marR="73152" marT="18288" marB="18288" anchor="ctr"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937"/>
                          </a:solidFill>
                          <a:latin typeface="Calibri"/>
                        </a:rPr>
                        <a:t>Read-only, advisory AI reviewing the migrated code's idiomaticity AND static performance — flags legacy patterns and N+1/bundle/blocking regressions.</a:t>
                      </a:r>
                    </a:p>
                  </a:txBody>
                  <a:tcPr marL="73152" marR="73152" marT="18288" marB="18288" anchor="ctr">
                    <a:solidFill>
                      <a:srgbClr val="FAFB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96596">
                <a:tc>
                  <a:txBody>
                    <a:bodyPr/>
                    <a:lstStyle/>
                    <a:p>
                      <a:pPr algn="l"/>
                      <a:r>
                        <a:rPr sz="1000" b="1" i="0">
                          <a:solidFill>
                            <a:srgbClr val="1A56DB"/>
                          </a:solidFill>
                          <a:latin typeface="Consolas"/>
                        </a:rPr>
                        <a:t>permanent-gotchas</a:t>
                      </a:r>
                    </a:p>
                  </a:txBody>
                  <a:tcPr marL="73152" marR="73152" marT="18288" marB="18288" anchor="ctr">
                    <a:solidFill>
                      <a:srgbClr val="EBF2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937"/>
                          </a:solidFill>
                          <a:latin typeface="Calibri"/>
                        </a:rPr>
                        <a:t>Curated read-only catalog of bugs the AI cannot reliably discover on its own — first-run crashes and silent failures.</a:t>
                      </a:r>
                    </a:p>
                  </a:txBody>
                  <a:tcPr marL="73152" marR="73152" marT="18288" marB="18288" anchor="ctr">
                    <a:solidFill>
                      <a:srgbClr val="EBF2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365760" y="2880360"/>
            <a:ext cx="11430000" cy="292608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500" b="0" i="0">
                <a:solidFill>
                  <a:srgbClr val="1A56DB"/>
                </a:solidFill>
                <a:latin typeface="Segoe UI Semibold"/>
              </a:rPr>
              <a:t>2 Automation Hooks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365760" y="3182112"/>
          <a:ext cx="11460174" cy="8503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2123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93893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FAFBFC"/>
                          </a:solidFill>
                          <a:latin typeface="Segoe UI Semibold"/>
                        </a:rPr>
                        <a:t>Hook</a:t>
                      </a:r>
                    </a:p>
                  </a:txBody>
                  <a:tcPr marL="73152" marR="73152" marT="18288" marB="18288" anchor="ctr">
                    <a:solidFill>
                      <a:srgbClr val="1A56D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FAFBFC"/>
                          </a:solidFill>
                          <a:latin typeface="Segoe UI Semibold"/>
                        </a:rPr>
                        <a:t>What It Does</a:t>
                      </a:r>
                    </a:p>
                  </a:txBody>
                  <a:tcPr marL="73152" marR="73152" marT="18288" marB="18288" anchor="ctr">
                    <a:solidFill>
                      <a:srgbClr val="1A56D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A56DB"/>
                          </a:solidFill>
                          <a:latin typeface="Consolas"/>
                        </a:rPr>
                        <a:t>hooks.json</a:t>
                      </a:r>
                    </a:p>
                  </a:txBody>
                  <a:tcPr marL="73152" marR="73152" marT="18288" marB="18288" anchor="ctr"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1F2937"/>
                          </a:solidFill>
                          <a:latin typeface="Calibri"/>
                        </a:rPr>
                        <a:t>Registers the heartbeat to fire automatically after every file save during migration work.</a:t>
                      </a:r>
                    </a:p>
                  </a:txBody>
                  <a:tcPr marL="73152" marR="73152" marT="18288" marB="18288" anchor="ctr">
                    <a:solidFill>
                      <a:srgbClr val="FAFB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A56DB"/>
                          </a:solidFill>
                          <a:latin typeface="Consolas"/>
                        </a:rPr>
                        <a:t>heartbeat.mjs</a:t>
                      </a:r>
                    </a:p>
                  </a:txBody>
                  <a:tcPr marL="73152" marR="73152" marT="18288" marB="18288" anchor="ctr">
                    <a:solidFill>
                      <a:srgbClr val="EBF2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1F2937"/>
                          </a:solidFill>
                          <a:latin typeface="Calibri"/>
                        </a:rPr>
                        <a:t>Stamps each developer's in-progress unit in real time so the team can detect stalled work.</a:t>
                      </a:r>
                    </a:p>
                  </a:txBody>
                  <a:tcPr marL="73152" marR="73152" marT="18288" marB="18288" anchor="ctr">
                    <a:solidFill>
                      <a:srgbClr val="EBF2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365760" y="4114800"/>
            <a:ext cx="114300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400" b="0" i="0">
                <a:solidFill>
                  <a:srgbClr val="1A56DB"/>
                </a:solidFill>
                <a:latin typeface="Segoe UI Semibold"/>
              </a:rPr>
              <a:t>9 Templates  ·  31 Framework Files  ·  2 Workflow Scripts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65760" y="4407408"/>
          <a:ext cx="11460174" cy="2148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9645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56371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14884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FAFBFC"/>
                          </a:solidFill>
                          <a:latin typeface="Segoe UI Semibold"/>
                        </a:rPr>
                        <a:t>Artifact</a:t>
                      </a:r>
                    </a:p>
                  </a:txBody>
                  <a:tcPr marL="73152" marR="73152" marT="18288" marB="18288" anchor="ctr">
                    <a:solidFill>
                      <a:srgbClr val="1A56D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FAFBFC"/>
                          </a:solidFill>
                          <a:latin typeface="Segoe UI Semibold"/>
                        </a:rPr>
                        <a:t>What It Does</a:t>
                      </a:r>
                    </a:p>
                  </a:txBody>
                  <a:tcPr marL="73152" marR="73152" marT="18288" marB="18288" anchor="ctr">
                    <a:solidFill>
                      <a:srgbClr val="1A56D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4884">
                <a:tc>
                  <a:txBody>
                    <a:bodyPr/>
                    <a:lstStyle/>
                    <a:p>
                      <a:pPr algn="l"/>
                      <a:r>
                        <a:rPr sz="900" b="1" i="0">
                          <a:solidFill>
                            <a:srgbClr val="1A56DB"/>
                          </a:solidFill>
                          <a:latin typeface="Consolas"/>
                        </a:rPr>
                        <a:t>migration.md</a:t>
                      </a:r>
                    </a:p>
                  </a:txBody>
                  <a:tcPr marL="73152" marR="73152" marT="18288" marB="18288" anchor="ctr"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 i="0">
                          <a:solidFill>
                            <a:srgbClr val="1F2937"/>
                          </a:solidFill>
                          <a:latin typeface="Calibri"/>
                        </a:rPr>
                        <a:t>The team-editable configuration: target stack, strategy, auth, cross-cutting concerns, acceptance criteria.</a:t>
                      </a:r>
                    </a:p>
                  </a:txBody>
                  <a:tcPr marL="73152" marR="73152" marT="18288" marB="18288" anchor="ctr">
                    <a:solidFill>
                      <a:srgbClr val="FAFB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4884">
                <a:tc>
                  <a:txBody>
                    <a:bodyPr/>
                    <a:lstStyle/>
                    <a:p>
                      <a:pPr algn="l"/>
                      <a:r>
                        <a:rPr sz="900" b="1" i="0">
                          <a:solidFill>
                            <a:srgbClr val="1A56DB"/>
                          </a:solidFill>
                          <a:latin typeface="Consolas"/>
                        </a:rPr>
                        <a:t>migration-interview.json</a:t>
                      </a:r>
                    </a:p>
                  </a:txBody>
                  <a:tcPr marL="73152" marR="73152" marT="18288" marB="18288" anchor="ctr">
                    <a:solidFill>
                      <a:srgbClr val="EBF2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 i="0">
                          <a:solidFill>
                            <a:srgbClr val="1F2937"/>
                          </a:solidFill>
                          <a:latin typeface="Calibri"/>
                        </a:rPr>
                        <a:t>Declarative question catalog driving /analyze's interactive setup interview.</a:t>
                      </a:r>
                    </a:p>
                  </a:txBody>
                  <a:tcPr marL="73152" marR="73152" marT="18288" marB="18288" anchor="ctr">
                    <a:solidFill>
                      <a:srgbClr val="EBF2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4884">
                <a:tc>
                  <a:txBody>
                    <a:bodyPr/>
                    <a:lstStyle/>
                    <a:p>
                      <a:pPr algn="l"/>
                      <a:r>
                        <a:rPr sz="900" b="1" i="0">
                          <a:solidFill>
                            <a:srgbClr val="1A56DB"/>
                          </a:solidFill>
                          <a:latin typeface="Consolas"/>
                        </a:rPr>
                        <a:t>frameworks/&lt;name&gt;.md  ×31</a:t>
                      </a:r>
                    </a:p>
                  </a:txBody>
                  <a:tcPr marL="73152" marR="73152" marT="18288" marB="18288" anchor="ctr"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 i="0">
                          <a:solidFill>
                            <a:srgbClr val="1F2937"/>
                          </a:solidFill>
                          <a:latin typeface="Calibri"/>
                        </a:rPr>
                        <a:t>One file per supported framework — detection signals, scaffold/integration recipes, test framework, auth notes.</a:t>
                      </a:r>
                    </a:p>
                  </a:txBody>
                  <a:tcPr marL="73152" marR="73152" marT="18288" marB="18288" anchor="ctr">
                    <a:solidFill>
                      <a:srgbClr val="FAFB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14884">
                <a:tc>
                  <a:txBody>
                    <a:bodyPr/>
                    <a:lstStyle/>
                    <a:p>
                      <a:pPr algn="l"/>
                      <a:r>
                        <a:rPr sz="900" b="1" i="0">
                          <a:solidFill>
                            <a:srgbClr val="1A56DB"/>
                          </a:solidFill>
                          <a:latin typeface="Consolas"/>
                        </a:rPr>
                        <a:t>workflows/analyze-discovery.js</a:t>
                      </a:r>
                    </a:p>
                  </a:txBody>
                  <a:tcPr marL="73152" marR="73152" marT="18288" marB="18288" anchor="ctr">
                    <a:solidFill>
                      <a:srgbClr val="EBF2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 i="0">
                          <a:solidFill>
                            <a:srgbClr val="1F2937"/>
                          </a:solidFill>
                          <a:latin typeface="Calibri"/>
                        </a:rPr>
                        <a:t>Workflow-tool script — exhaustive loop-until-dry entry-point discovery driving /analyze.</a:t>
                      </a:r>
                    </a:p>
                  </a:txBody>
                  <a:tcPr marL="73152" marR="73152" marT="18288" marB="18288" anchor="ctr">
                    <a:solidFill>
                      <a:srgbClr val="EBF2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14884">
                <a:tc>
                  <a:txBody>
                    <a:bodyPr/>
                    <a:lstStyle/>
                    <a:p>
                      <a:pPr algn="l"/>
                      <a:r>
                        <a:rPr sz="900" b="1" i="0">
                          <a:solidFill>
                            <a:srgbClr val="1A56DB"/>
                          </a:solidFill>
                          <a:latin typeface="Consolas"/>
                        </a:rPr>
                        <a:t>workflows/foundation-establish.js</a:t>
                      </a:r>
                    </a:p>
                  </a:txBody>
                  <a:tcPr marL="73152" marR="73152" marT="18288" marB="18288" anchor="ctr"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 i="0">
                          <a:solidFill>
                            <a:srgbClr val="1F2937"/>
                          </a:solidFill>
                          <a:latin typeface="Calibri"/>
                        </a:rPr>
                        <a:t>Workflow-tool script — fans out cross-cutting-migrator per concern, in parallel, for /foundation.</a:t>
                      </a:r>
                    </a:p>
                  </a:txBody>
                  <a:tcPr marL="73152" marR="73152" marT="18288" marB="18288" anchor="ctr">
                    <a:solidFill>
                      <a:srgbClr val="FAFB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14884">
                <a:tc>
                  <a:txBody>
                    <a:bodyPr/>
                    <a:lstStyle/>
                    <a:p>
                      <a:pPr algn="l"/>
                      <a:r>
                        <a:rPr sz="900" b="1" i="0">
                          <a:solidFill>
                            <a:srgbClr val="1A56DB"/>
                          </a:solidFill>
                          <a:latin typeface="Consolas"/>
                        </a:rPr>
                        <a:t>state.schema.json  +  unit.schema.json</a:t>
                      </a:r>
                    </a:p>
                  </a:txBody>
                  <a:tcPr marL="73152" marR="73152" marT="18288" marB="18288" anchor="ctr">
                    <a:solidFill>
                      <a:srgbClr val="EBF2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 i="0">
                          <a:solidFill>
                            <a:srgbClr val="1F2937"/>
                          </a:solidFill>
                          <a:latin typeface="Calibri"/>
                        </a:rPr>
                        <a:t>Schemas for the workflow ledger and per-unit state — one JSON file per unit, conflict-free in git.</a:t>
                      </a:r>
                    </a:p>
                  </a:txBody>
                  <a:tcPr marL="73152" marR="73152" marT="18288" marB="18288" anchor="ctr">
                    <a:solidFill>
                      <a:srgbClr val="EBF2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14884">
                <a:tc>
                  <a:txBody>
                    <a:bodyPr/>
                    <a:lstStyle/>
                    <a:p>
                      <a:pPr algn="l"/>
                      <a:r>
                        <a:rPr sz="900" b="1" i="0">
                          <a:solidFill>
                            <a:srgbClr val="1A56DB"/>
                          </a:solidFill>
                          <a:latin typeface="Consolas"/>
                        </a:rPr>
                        <a:t>plan.md  +  report.md  +  notes-template.md</a:t>
                      </a:r>
                    </a:p>
                  </a:txBody>
                  <a:tcPr marL="73152" marR="73152" marT="18288" marB="18288" anchor="ctr"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 i="0">
                          <a:solidFill>
                            <a:srgbClr val="1F2937"/>
                          </a:solidFill>
                          <a:latin typeface="Calibri"/>
                        </a:rPr>
                        <a:t>Templates for the auto-generated plan, stakeholder reports, and per-unit design notes.</a:t>
                      </a:r>
                    </a:p>
                  </a:txBody>
                  <a:tcPr marL="73152" marR="73152" marT="18288" marB="18288" anchor="ctr">
                    <a:solidFill>
                      <a:srgbClr val="FAFB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4884">
                <a:tc>
                  <a:txBody>
                    <a:bodyPr/>
                    <a:lstStyle/>
                    <a:p>
                      <a:pPr algn="l"/>
                      <a:r>
                        <a:rPr sz="900" b="1" i="0">
                          <a:solidFill>
                            <a:srgbClr val="1A56DB"/>
                          </a:solidFill>
                          <a:latin typeface="Consolas"/>
                        </a:rPr>
                        <a:t>verify.config.json</a:t>
                      </a:r>
                    </a:p>
                  </a:txBody>
                  <a:tcPr marL="73152" marR="73152" marT="18288" marB="18288" anchor="ctr">
                    <a:solidFill>
                      <a:srgbClr val="EBF2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 i="0">
                          <a:solidFill>
                            <a:srgbClr val="1F2937"/>
                          </a:solidFill>
                          <a:latin typeface="Calibri"/>
                        </a:rPr>
                        <a:t>Per-stack lint, type-check, test, and dynamic (E2E + API-replay) commands used by /verify.</a:t>
                      </a:r>
                    </a:p>
                  </a:txBody>
                  <a:tcPr marL="73152" marR="73152" marT="18288" marB="18288" anchor="ctr">
                    <a:solidFill>
                      <a:srgbClr val="EBF2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4884">
                <a:tc>
                  <a:txBody>
                    <a:bodyPr/>
                    <a:lstStyle/>
                    <a:p>
                      <a:pPr algn="l"/>
                      <a:r>
                        <a:rPr sz="900" b="1" i="0">
                          <a:solidFill>
                            <a:srgbClr val="1A56DB"/>
                          </a:solidFill>
                          <a:latin typeface="Consolas"/>
                        </a:rPr>
                        <a:t>permanent-gotchas/fastapi/pyproject.toml</a:t>
                      </a:r>
                    </a:p>
                  </a:txBody>
                  <a:tcPr marL="73152" marR="73152" marT="18288" marB="18288" anchor="ctr"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 i="0">
                          <a:solidFill>
                            <a:srgbClr val="1F2937"/>
                          </a:solidFill>
                          <a:latin typeface="Calibri"/>
                        </a:rPr>
                        <a:t>Reference asset that bypasses a known FastAPI install gotcha automatically.</a:t>
                      </a:r>
                    </a:p>
                  </a:txBody>
                  <a:tcPr marL="73152" marR="73152" marT="18288" marB="18288" anchor="ctr">
                    <a:solidFill>
                      <a:srgbClr val="FAFB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00C2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6793992"/>
            <a:ext cx="12191695" cy="64008"/>
          </a:xfrm>
          <a:prstGeom prst="rect">
            <a:avLst/>
          </a:prstGeom>
          <a:solidFill>
            <a:srgbClr val="00C2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00C2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883767" y="1097280"/>
            <a:ext cx="3291840" cy="502920"/>
          </a:xfrm>
          <a:prstGeom prst="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29487" y="1115568"/>
            <a:ext cx="3200400" cy="466344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/>
            <a:r>
              <a:rPr sz="1300" b="0" i="0">
                <a:solidFill>
                  <a:srgbClr val="FAFBFC"/>
                </a:solidFill>
                <a:latin typeface="Segoe UI Semibold"/>
              </a:rPr>
              <a:t>AI translates · You approve</a:t>
            </a:r>
          </a:p>
        </p:txBody>
      </p:sp>
      <p:sp>
        <p:nvSpPr>
          <p:cNvPr id="8" name="Rectangle 7"/>
          <p:cNvSpPr/>
          <p:nvPr/>
        </p:nvSpPr>
        <p:spPr>
          <a:xfrm>
            <a:off x="4449927" y="1097280"/>
            <a:ext cx="3291840" cy="502920"/>
          </a:xfrm>
          <a:prstGeom prst="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495647" y="1115568"/>
            <a:ext cx="3200400" cy="466344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/>
            <a:r>
              <a:rPr sz="1300" b="0" i="0">
                <a:solidFill>
                  <a:srgbClr val="FAFBFC"/>
                </a:solidFill>
                <a:latin typeface="Segoe UI Semibold"/>
              </a:rPr>
              <a:t>20+ developers · Zero conflicts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16087" y="1097280"/>
            <a:ext cx="3291840" cy="502920"/>
          </a:xfrm>
          <a:prstGeom prst="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061807" y="1115568"/>
            <a:ext cx="3200400" cy="466344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/>
            <a:r>
              <a:rPr sz="1300" b="0" i="0">
                <a:solidFill>
                  <a:srgbClr val="FAFBFC"/>
                </a:solidFill>
                <a:latin typeface="Segoe UI Semibold"/>
              </a:rPr>
              <a:t>Full visibility · Every sprint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011680"/>
            <a:ext cx="10911535" cy="182880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/>
            <a:r>
              <a:rPr sz="2600" b="0" i="0">
                <a:solidFill>
                  <a:srgbClr val="FAFBFC"/>
                </a:solidFill>
                <a:latin typeface="Segoe UI Semibold"/>
              </a:rPr>
              <a:t>web-modernize turns a multi-year legacy rewrite
into a measurable, sprint-by-sprint delivery
with safety nets at every step.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4400" y="4160520"/>
            <a:ext cx="10362895" cy="1371600"/>
          </a:xfrm>
          <a:prstGeom prst="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914400" y="4251960"/>
            <a:ext cx="10362895" cy="41148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/>
            <a:r>
              <a:rPr sz="1800" b="0" i="0">
                <a:solidFill>
                  <a:srgbClr val="FAFBFC"/>
                </a:solidFill>
                <a:latin typeface="Segoe UI Semibold"/>
              </a:rPr>
              <a:t>Next Step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4709160"/>
            <a:ext cx="10058400" cy="77724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/>
            <a:r>
              <a:rPr sz="1500" b="0" i="0">
                <a:solidFill>
                  <a:srgbClr val="FAFBFC"/>
                </a:solidFill>
                <a:latin typeface="Calibri"/>
              </a:rPr>
              <a:t>Pilot the plugin on one legacy application this sprint.
Run  /web-modernize:analyze  and see your full migration scope in minutes.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5760720"/>
            <a:ext cx="11277295" cy="3200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/>
            <a:r>
              <a:rPr sz="1300" b="0" i="0">
                <a:solidFill>
                  <a:srgbClr val="FAFBFC"/>
                </a:solidFill>
                <a:latin typeface="Calibri"/>
              </a:rPr>
              <a:t>Balaji Harikrishnan   ·   balaji.harikrishnan@cognizant.com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6126480"/>
            <a:ext cx="11277295" cy="292608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/>
            <a:r>
              <a:rPr sz="1100" b="0" i="1">
                <a:solidFill>
                  <a:srgbClr val="6B7280"/>
                </a:solidFill>
                <a:latin typeface="Calibri"/>
              </a:rPr>
              <a:t>web-modernize v0.15.0   ·   github.com/balaji-hari/web-mordernize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50</TotalTime>
  <Words>3870</Words>
  <Application>Microsoft Office PowerPoint</Application>
  <PresentationFormat>Widescreen</PresentationFormat>
  <Paragraphs>363</Paragraphs>
  <Slides>13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9" baseType="lpstr">
      <vt:lpstr>Arial</vt:lpstr>
      <vt:lpstr>Calibri</vt:lpstr>
      <vt:lpstr>Consolas</vt:lpstr>
      <vt:lpstr>Segoe UI Light</vt:lpstr>
      <vt:lpstr>Segoe UI Semibold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Hari Krishnan, Balaji (Cognizant)</cp:lastModifiedBy>
  <cp:revision>2</cp:revision>
  <dcterms:created xsi:type="dcterms:W3CDTF">2013-01-27T09:14:16Z</dcterms:created>
  <dcterms:modified xsi:type="dcterms:W3CDTF">2026-06-30T15:56:05Z</dcterms:modified>
  <cp:category/>
</cp:coreProperties>
</file>