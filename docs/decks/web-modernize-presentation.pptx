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11277295" cy="13716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7200" b="0" i="0">
                <a:solidFill>
                  <a:srgbClr val="FAFBFC"/>
                </a:solidFill>
                <a:latin typeface="Segoe UI Light"/>
              </a:rPr>
              <a:t>web-modernize</a:t>
            </a:r>
          </a:p>
        </p:txBody>
      </p:sp>
      <p:sp>
        <p:nvSpPr>
          <p:cNvPr id="7" name="Rectangle 6"/>
          <p:cNvSpPr/>
          <p:nvPr/>
        </p:nvSpPr>
        <p:spPr>
          <a:xfrm>
            <a:off x="4041648" y="3246120"/>
            <a:ext cx="4114800" cy="36576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3429000"/>
            <a:ext cx="11277295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00" b="0" i="0">
                <a:solidFill>
                  <a:srgbClr val="FAFBFC"/>
                </a:solidFill>
                <a:latin typeface="Segoe UI Semibold"/>
              </a:rPr>
              <a:t>AI-Guided Legacy Web Application Migration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977639"/>
            <a:ext cx="11277295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1">
                <a:solidFill>
                  <a:srgbClr val="00C2CB"/>
                </a:solidFill>
                <a:latin typeface="Calibri"/>
              </a:rPr>
              <a:t>A Claude Code Plugin for Enterprise Teams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989320"/>
            <a:ext cx="11277295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200" b="0" i="0">
                <a:solidFill>
                  <a:srgbClr val="6B7280"/>
                </a:solidFill>
                <a:latin typeface="Segoe UI Semibold"/>
              </a:rPr>
              <a:t>Balaji Harikrishnan   ·   Cognizant   ·   June 2026   ·   v0.13.0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" cy="96012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91440"/>
            <a:ext cx="117043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FAFBFC"/>
                </a:solidFill>
                <a:latin typeface="Segoe UI Semibold"/>
              </a:rPr>
              <a:t>What is  web-modernize?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566928"/>
            <a:ext cx="117043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00C2CB"/>
                </a:solidFill>
                <a:latin typeface="Calibri"/>
              </a:rPr>
              <a:t>A Claude Code plugin that gives software teams a structured workflow for modernizing legacy web applications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E6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620256"/>
            <a:ext cx="987552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web-modernize v0.13.0   ·   Balaji Harikrishnan   ·   Cognizant   ·   June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620256"/>
            <a:ext cx="77724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Segoe UI Semibold"/>
              </a:rPr>
              <a:t>02  / 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097280"/>
            <a:ext cx="11460175" cy="36576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115568"/>
            <a:ext cx="11277295" cy="32918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0" i="0">
                <a:solidFill>
                  <a:srgbClr val="FAFBFC"/>
                </a:solidFill>
                <a:latin typeface="Segoe UI Semibold"/>
              </a:rPr>
              <a:t>OVERVIEW   —   what the plugin does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1554480"/>
            <a:ext cx="11460175" cy="109728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60020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0" i="0">
                <a:solidFill>
                  <a:srgbClr val="1F2937"/>
                </a:solidFill>
                <a:latin typeface="Calibri"/>
              </a:rPr>
              <a:t>web-modernize is a Claude Code plugin that developers install from the marketplace onto their own machine. It is used to modernize old web applications: the plugin reads a legacy application built in older technology (like ASP.NET, Java JSP, or AngularJS), then helps the team rewrite it  —  one page or feature at a time  —  into a modern framework (like React, Next.js, or Angular). Developers stay in control of every decision. The plugin handles the time-consuming translation work.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6567" y="2743200"/>
            <a:ext cx="3657600" cy="45720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8007" y="2761488"/>
            <a:ext cx="3474720" cy="42062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FAFBFC"/>
                </a:solidFill>
                <a:latin typeface="Calibri"/>
              </a:rPr>
              <a:t>Migrates feature by feature, not all at once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67047" y="2743200"/>
            <a:ext cx="3657600" cy="45720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58487" y="2761488"/>
            <a:ext cx="3474720" cy="42062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FAFBFC"/>
                </a:solidFill>
                <a:latin typeface="Calibri"/>
              </a:rPr>
              <a:t>Visible to leadership at every step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07527" y="2743200"/>
            <a:ext cx="3657600" cy="45720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98967" y="2761488"/>
            <a:ext cx="3474720" cy="42062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FAFBFC"/>
                </a:solidFill>
                <a:latin typeface="Calibri"/>
              </a:rPr>
              <a:t>Team-scale workflow, not individual prompting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337560"/>
            <a:ext cx="11460175" cy="36576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3355848"/>
            <a:ext cx="11277295" cy="32918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0" i="0">
                <a:solidFill>
                  <a:srgbClr val="FAFBFC"/>
                </a:solidFill>
                <a:latin typeface="Segoe UI Semibold"/>
              </a:rPr>
              <a:t>TECHNICAL OVERVIEW   —   components and architecture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3794760"/>
            <a:ext cx="5632704" cy="1078992"/>
          </a:xfrm>
          <a:prstGeom prst="rect">
            <a:avLst/>
          </a:prstGeom>
          <a:solidFill>
            <a:srgbClr val="FAFBFC"/>
          </a:solidFill>
          <a:ln w="9525">
            <a:solidFill>
              <a:srgbClr val="0D1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65760" y="3794760"/>
            <a:ext cx="5632704" cy="292608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3813048"/>
            <a:ext cx="5358384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FAFBFC"/>
                </a:solidFill>
                <a:latin typeface="Calibri"/>
              </a:rPr>
              <a:t>Plugin Host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4142232"/>
            <a:ext cx="5358384" cy="66751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Runs inside Claude Code (Anthropic's official AI coding tool). Installs via the standard  /plugin install  command  —  no separate infrastructure, no servers.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81344" y="3794760"/>
            <a:ext cx="5632704" cy="1078992"/>
          </a:xfrm>
          <a:prstGeom prst="rect">
            <a:avLst/>
          </a:prstGeom>
          <a:solidFill>
            <a:srgbClr val="FAFBFC"/>
          </a:solidFill>
          <a:ln w="9525">
            <a:solidFill>
              <a:srgbClr val="0D1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81344" y="3794760"/>
            <a:ext cx="5632704" cy="292608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18504" y="3813048"/>
            <a:ext cx="5358384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FAFBFC"/>
                </a:solidFill>
                <a:latin typeface="Calibri"/>
              </a:rPr>
              <a:t>What It Adds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18504" y="4142232"/>
            <a:ext cx="5358384" cy="66751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17 skills exposed as slash commands  ·  5 AI agents (analyzer, migrator, parity-reviewer, migration-critic, gotchas catalog)  ·  2 automation hooks  ·  a workflows/ orchestration script  ·  9 schema-validated templates copied into the team's repo.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4965192"/>
            <a:ext cx="5632704" cy="1078992"/>
          </a:xfrm>
          <a:prstGeom prst="rect">
            <a:avLst/>
          </a:prstGeom>
          <a:solidFill>
            <a:srgbClr val="FAFBFC"/>
          </a:solidFill>
          <a:ln w="9525">
            <a:solidFill>
              <a:srgbClr val="0D1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5760" y="4965192"/>
            <a:ext cx="5632704" cy="292608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4983480"/>
            <a:ext cx="5358384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FAFBFC"/>
                </a:solidFill>
                <a:latin typeface="Calibri"/>
              </a:rPr>
              <a:t>State and Concurrency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5312664"/>
            <a:ext cx="5358384" cy="66751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All migration state lives in git as JSON. Per-unit file split (schema v3) lets 20+ developers migrate different units in parallel  —  zero merge conflicts by design.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81344" y="4965192"/>
            <a:ext cx="5632704" cy="1078992"/>
          </a:xfrm>
          <a:prstGeom prst="rect">
            <a:avLst/>
          </a:prstGeom>
          <a:solidFill>
            <a:srgbClr val="FAFBFC"/>
          </a:solidFill>
          <a:ln w="9525">
            <a:solidFill>
              <a:srgbClr val="0D1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181344" y="4965192"/>
            <a:ext cx="5632704" cy="292608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18504" y="4983480"/>
            <a:ext cx="5358384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FAFBFC"/>
                </a:solidFill>
                <a:latin typeface="Calibri"/>
              </a:rPr>
              <a:t>Stacks Supported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18504" y="5312664"/>
            <a:ext cx="5358384" cy="66751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17 source stacks (ASP.NET WebForms/MVC/Core, Java JSP/Struts/Spring, AngularJS, Vue 2, jQuery, PHP, ColdFusion, Rails, Django, WordPress, ExtJS, classic ASP)  →  14 modern targets (React/Next/Vue 3/Angular/SvelteKit/Astro/Nuxt/Remix + .NET / Spring Boot / Nest / FastAPI / Express / Hono). Any other stack drops into a 3-question follow-up; migration continues.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5760" y="6199632"/>
            <a:ext cx="11460175" cy="329184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" y="6217920"/>
            <a:ext cx="11277295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FAFBFC"/>
                </a:solidFill>
                <a:latin typeface="Calibri"/>
              </a:rPr>
              <a:t>Installed in minutes from the marketplace.  The team has a working, end-to-end migration workflow the same day.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" cy="96012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91440"/>
            <a:ext cx="117043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FAFBFC"/>
                </a:solidFill>
                <a:latin typeface="Segoe UI Semibold"/>
              </a:rPr>
              <a:t>Why We Need This Plugin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566928"/>
            <a:ext cx="117043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00C2CB"/>
                </a:solidFill>
                <a:latin typeface="Calibri"/>
              </a:rPr>
              <a:t>Ad-hoc AI prompting and one-off tooling don't scale to enterprise modernization — six things the plugin adds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E6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620256"/>
            <a:ext cx="987552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web-modernize v0.13.0   ·   Balaji Harikrishnan   ·   Cognizant   ·   June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620256"/>
            <a:ext cx="77724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Segoe UI Semibold"/>
              </a:rPr>
              <a:t>03  / 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188720"/>
            <a:ext cx="3694176" cy="224028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1188720"/>
            <a:ext cx="73152" cy="22402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1353312"/>
            <a:ext cx="33832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A56DB"/>
                </a:solidFill>
                <a:latin typeface="Calibri"/>
              </a:rPr>
              <a:t>Enforced consistency across the team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828800"/>
            <a:ext cx="338328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One workflow, one set of conventions, one quality bar. Every developer produces the same shape of output instead of inventing their own prompt style.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42816" y="1188720"/>
            <a:ext cx="3694176" cy="224028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42816" y="1188720"/>
            <a:ext cx="73152" cy="22402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43984" y="1353312"/>
            <a:ext cx="33832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A56DB"/>
                </a:solidFill>
                <a:latin typeface="Calibri"/>
              </a:rPr>
              <a:t>Durable progress ledger in git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984" y="1828800"/>
            <a:ext cx="338328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Who did what, what is done, what is left — all tracked. Direct prompting forgets everything when the session ends; the plugin remembers across days and developers.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19872" y="1188720"/>
            <a:ext cx="3694176" cy="224028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19872" y="1188720"/>
            <a:ext cx="73152" cy="22402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21040" y="1353312"/>
            <a:ext cx="33832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A56DB"/>
                </a:solidFill>
                <a:latin typeface="Calibri"/>
              </a:rPr>
              <a:t>Project context captured once, used everywhere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1828800"/>
            <a:ext cx="338328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Legacy stack, target stack, conventions, and constraints live in migration.md. No re-explaining the project on every prompt to every developer.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3611880"/>
            <a:ext cx="3694176" cy="224028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65760" y="3611880"/>
            <a:ext cx="73152" cy="22402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3776472"/>
            <a:ext cx="33832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A56DB"/>
                </a:solidFill>
                <a:latin typeface="Calibri"/>
              </a:rPr>
              <a:t>Verification gate that cannot be skipped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4251960"/>
            <a:ext cx="338328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Every unit must pass lint, type-check, and tests before it counts as done. Quality is enforced by the workflow, not remembered by the developer.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42816" y="3611880"/>
            <a:ext cx="3694176" cy="224028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242816" y="3611880"/>
            <a:ext cx="73152" cy="22402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43984" y="3776472"/>
            <a:ext cx="33832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A56DB"/>
                </a:solidFill>
                <a:latin typeface="Calibri"/>
              </a:rPr>
              <a:t>Team-aware coordination at scale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43984" y="4251960"/>
            <a:ext cx="338328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Backlog, real-time kanban, per-unit git layout, deterministic merge rules. 20+ developers can migrate in parallel without colliding or duplicating work.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19872" y="3611880"/>
            <a:ext cx="3694176" cy="224028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19872" y="3611880"/>
            <a:ext cx="73152" cy="22402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21040" y="3776472"/>
            <a:ext cx="33832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A56DB"/>
                </a:solidFill>
                <a:latin typeface="Calibri"/>
              </a:rPr>
              <a:t>Built-in rollback and audit trail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4251960"/>
            <a:ext cx="338328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Every attempt, failure, and retry is recorded. One command (/rollback) reverts a unit cleanly. Direct prompting leaves you stranded when something breaks in production.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6172200"/>
            <a:ext cx="11460175" cy="36576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" y="6199632"/>
            <a:ext cx="11277295" cy="31089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FAFBFC"/>
                </a:solidFill>
                <a:latin typeface="Calibri"/>
              </a:rPr>
              <a:t>The plugin turns  'ask Claude to migrate this'  into a repeatable, auditable, team-scale engineering process.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" cy="96012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91440"/>
            <a:ext cx="117043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FAFBFC"/>
                </a:solidFill>
                <a:latin typeface="Segoe UI Semibold"/>
              </a:rPr>
              <a:t>From Legacy Codebase to Migration Backlog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566928"/>
            <a:ext cx="117043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00C2CB"/>
                </a:solidFill>
                <a:latin typeface="Calibri"/>
              </a:rPr>
              <a:t>Two plugin commands  —  /analyze  and  /plan  —  produce a sized, prioritised backlog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E6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620256"/>
            <a:ext cx="987552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web-modernize v0.13.0   ·   Balaji Harikrishnan   ·   Cognizant   ·   June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620256"/>
            <a:ext cx="77724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Segoe UI Semibold"/>
              </a:rPr>
              <a:t>04  / 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2608" y="1188720"/>
            <a:ext cx="3383280" cy="10972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" y="1325880"/>
            <a:ext cx="32004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FAFBFC"/>
                </a:solidFill>
                <a:latin typeface="Calibri"/>
              </a:rPr>
              <a:t>Legacy Codebase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" y="1691640"/>
            <a:ext cx="32004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0" i="1">
                <a:solidFill>
                  <a:srgbClr val="FAFBFC"/>
                </a:solidFill>
                <a:latin typeface="Calibri"/>
              </a:rPr>
              <a:t>Untouched.
Read-only inspection.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07408" y="1188720"/>
            <a:ext cx="3383280" cy="109728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98848" y="1325880"/>
            <a:ext cx="32004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FAFBFC"/>
                </a:solidFill>
                <a:latin typeface="Calibri"/>
              </a:rPr>
              <a:t>Pre-filled  migration.md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8848" y="1691640"/>
            <a:ext cx="32004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0" i="1">
                <a:solidFill>
                  <a:srgbClr val="FAFBFC"/>
                </a:solidFill>
                <a:latin typeface="Calibri"/>
              </a:rPr>
              <a:t>Auto-detected stack +
team-edited targets.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22208" y="1188720"/>
            <a:ext cx="3383280" cy="10972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13648" y="1325880"/>
            <a:ext cx="32004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FAFBFC"/>
                </a:solidFill>
                <a:latin typeface="Calibri"/>
              </a:rPr>
              <a:t>Migration Backlog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13648" y="1691640"/>
            <a:ext cx="32004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0" i="1">
                <a:solidFill>
                  <a:srgbClr val="FAFBFC"/>
                </a:solidFill>
                <a:latin typeface="Calibri"/>
              </a:rPr>
              <a:t>Sized, prioritised,
ready for sprint planning.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3703320" y="1508760"/>
            <a:ext cx="731520" cy="457200"/>
          </a:xfrm>
          <a:prstGeom prst="rightArrow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0" y="2039112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00C2CB"/>
                </a:solidFill>
                <a:latin typeface="Consolas"/>
              </a:rPr>
              <a:t>/analyze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7818120" y="1508760"/>
            <a:ext cx="731520" cy="457200"/>
          </a:xfrm>
          <a:prstGeom prst="rightArrow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0" y="2039112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00C2CB"/>
                </a:solidFill>
                <a:latin typeface="Consolas"/>
              </a:rPr>
              <a:t>/plan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606040"/>
            <a:ext cx="3694176" cy="352044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65760" y="2606040"/>
            <a:ext cx="3694176" cy="50292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2651760"/>
            <a:ext cx="3511296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0" i="0">
                <a:solidFill>
                  <a:srgbClr val="FAFBFC"/>
                </a:solidFill>
                <a:latin typeface="Segoe UI Semibold"/>
              </a:rPr>
              <a:t>Step 1  —  /analyze (automatic)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3246120"/>
            <a:ext cx="182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A56DB"/>
                </a:solidFill>
                <a:latin typeface="Calibri"/>
              </a:rPr>
              <a:t>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" y="3246120"/>
            <a:ext cx="3191256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Reads every legacy file (never modifies them).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3794759"/>
            <a:ext cx="182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A56DB"/>
                </a:solidFill>
                <a:latin typeface="Calibri"/>
              </a:rPr>
              <a:t>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808" y="3794759"/>
            <a:ext cx="3191256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Detects framework, version, and build tooling.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4343399"/>
            <a:ext cx="182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A56DB"/>
                </a:solidFill>
                <a:latin typeface="Calibri"/>
              </a:rPr>
              <a:t>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8" y="4343399"/>
            <a:ext cx="3191256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Identifies entry points  —  exhaustive loop-until-dry discovery on large apps.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4892039"/>
            <a:ext cx="182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A56DB"/>
                </a:solidFill>
                <a:latin typeface="Calibri"/>
              </a:rPr>
              <a:t>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8" y="4892039"/>
            <a:ext cx="3191256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Pre-fills migration.md §2  (Source Stack)  for you.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5440679"/>
            <a:ext cx="182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A56DB"/>
                </a:solidFill>
                <a:latin typeface="Calibri"/>
              </a:rPr>
              <a:t>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9808" y="5440679"/>
            <a:ext cx="3191256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Writes analysis.json — a structured inventory you can audit.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242816" y="2606040"/>
            <a:ext cx="3694176" cy="3520440"/>
          </a:xfrm>
          <a:prstGeom prst="rect">
            <a:avLst/>
          </a:prstGeom>
          <a:solidFill>
            <a:srgbClr val="FAFBFC"/>
          </a:solidFill>
          <a:ln w="9525">
            <a:solidFill>
              <a:srgbClr val="00C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242816" y="2606040"/>
            <a:ext cx="3694176" cy="50292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34256" y="2651760"/>
            <a:ext cx="3511296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0" i="0">
                <a:solidFill>
                  <a:srgbClr val="FAFBFC"/>
                </a:solidFill>
                <a:latin typeface="Segoe UI Semibold"/>
              </a:rPr>
              <a:t>Step 2  —  Edit migration.md (team)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425696" y="3246120"/>
            <a:ext cx="182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00C2CB"/>
                </a:solidFill>
                <a:latin typeface="Calibri"/>
              </a:rPr>
              <a:t>▸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26864" y="3246120"/>
            <a:ext cx="3191256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Choose target UI framework  (React, Next, Vue, Angular, Svelte).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25696" y="3794759"/>
            <a:ext cx="182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00C2CB"/>
                </a:solidFill>
                <a:latin typeface="Calibri"/>
              </a:rPr>
              <a:t>▸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26864" y="3794759"/>
            <a:ext cx="3191256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Choose target API framework  —  or 'none' for UI-only migrations.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425696" y="4343399"/>
            <a:ext cx="182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00C2CB"/>
                </a:solidFill>
                <a:latin typeface="Calibri"/>
              </a:rPr>
              <a:t>▸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26864" y="4343399"/>
            <a:ext cx="3191256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Pick migration strategy  (strangler-fig, big-bang, module-by-module).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25696" y="4892039"/>
            <a:ext cx="182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00C2CB"/>
                </a:solidFill>
                <a:latin typeface="Calibri"/>
              </a:rPr>
              <a:t>▸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26864" y="4892039"/>
            <a:ext cx="3191256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Declare current and target auth provider.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425696" y="5440679"/>
            <a:ext cx="182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00C2CB"/>
                </a:solidFill>
                <a:latin typeface="Calibri"/>
              </a:rPr>
              <a:t>▸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626864" y="5440679"/>
            <a:ext cx="3191256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Set acceptance criteria  —  these drive /verify's pass/fail bar.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119872" y="2606040"/>
            <a:ext cx="3694176" cy="3520440"/>
          </a:xfrm>
          <a:prstGeom prst="rect">
            <a:avLst/>
          </a:prstGeom>
          <a:solidFill>
            <a:srgbClr val="FAFBFC"/>
          </a:solidFill>
          <a:ln w="952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119872" y="2606040"/>
            <a:ext cx="3694176" cy="5029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211312" y="2651760"/>
            <a:ext cx="3511296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0" i="0">
                <a:solidFill>
                  <a:srgbClr val="FAFBFC"/>
                </a:solidFill>
                <a:latin typeface="Segoe UI Semibold"/>
              </a:rPr>
              <a:t>Step 3  —  /plan (automatic)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02752" y="3246120"/>
            <a:ext cx="182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0B981"/>
                </a:solidFill>
                <a:latin typeface="Calibri"/>
              </a:rPr>
              <a:t>▸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3246120"/>
            <a:ext cx="3191256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Validates that migration.md is complete and consistent.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02752" y="3794759"/>
            <a:ext cx="182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0B981"/>
                </a:solidFill>
                <a:latin typeface="Calibri"/>
              </a:rPr>
              <a:t>▸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503920" y="3794759"/>
            <a:ext cx="3191256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Generates plan.md  —  a reviewable plan with a dependency graph.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02752" y="4343399"/>
            <a:ext cx="182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0B981"/>
                </a:solidFill>
                <a:latin typeface="Calibri"/>
              </a:rPr>
              <a:t>▸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503920" y="4343399"/>
            <a:ext cx="3191256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Seeds the unit backlog  —  one item per page or feature.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302752" y="4892039"/>
            <a:ext cx="182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0B981"/>
                </a:solidFill>
                <a:latin typeface="Calibri"/>
              </a:rPr>
              <a:t>▸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503920" y="4892039"/>
            <a:ext cx="3191256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Re-runnable: edit migration.md and re-run /plan anytime.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302752" y="5440679"/>
            <a:ext cx="182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0B981"/>
                </a:solidFill>
                <a:latin typeface="Calibri"/>
              </a:rPr>
              <a:t>▸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503920" y="5440679"/>
            <a:ext cx="3191256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History is preserved across re-plans  (by unit id).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6199632"/>
            <a:ext cx="11460175" cy="329184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6217920"/>
            <a:ext cx="11277295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FAFBFC"/>
                </a:solidFill>
                <a:latin typeface="Calibri"/>
              </a:rPr>
              <a:t>All artifacts  (migration.md, analysis.json, plan.md, units/*.json)  live in git  —  auditable, versioned, never lost to a laptop.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" cy="96012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91440"/>
            <a:ext cx="117043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FAFBFC"/>
                </a:solidFill>
                <a:latin typeface="Segoe UI Semibold"/>
              </a:rPr>
              <a:t>From Backlog to Migrated Units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566928"/>
            <a:ext cx="117043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00C2CB"/>
                </a:solidFill>
                <a:latin typeface="Calibri"/>
              </a:rPr>
              <a:t>Set up once with  /scaffold  and  /auth.  Then the team migrates in parallel with  /next  and  /migrate.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E6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620256"/>
            <a:ext cx="987552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web-modernize v0.13.0   ·   Balaji Harikrishnan   ·   Cognizant   ·   June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620256"/>
            <a:ext cx="77724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Segoe UI Semibold"/>
              </a:rPr>
              <a:t>05  / 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188720"/>
            <a:ext cx="11460175" cy="384048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77295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0" i="0">
                <a:solidFill>
                  <a:srgbClr val="FAFBFC"/>
                </a:solidFill>
                <a:latin typeface="Segoe UI Semibold"/>
              </a:rPr>
              <a:t>SETUP   —   one developer runs   /scaffold   then   /auth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2608" y="1755648"/>
            <a:ext cx="3383280" cy="100584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048" y="1847088"/>
            <a:ext cx="32004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FAFBFC"/>
                </a:solidFill>
                <a:latin typeface="Calibri"/>
              </a:rPr>
              <a:t>Backlog Ready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" y="2212848"/>
            <a:ext cx="32004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0" i="1">
                <a:solidFill>
                  <a:srgbClr val="FAFBFC"/>
                </a:solidFill>
                <a:latin typeface="Calibri"/>
              </a:rPr>
              <a:t>From  /plan.
Units sized S / M / L / XL.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07408" y="1755648"/>
            <a:ext cx="3383280" cy="100584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98848" y="1847088"/>
            <a:ext cx="32004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FAFBFC"/>
                </a:solidFill>
                <a:latin typeface="Calibri"/>
              </a:rPr>
              <a:t>Target Scaffold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98848" y="2212848"/>
            <a:ext cx="32004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0" i="1">
                <a:solidFill>
                  <a:srgbClr val="FAFBFC"/>
                </a:solidFill>
                <a:latin typeface="Calibri"/>
              </a:rPr>
              <a:t>Skeleton + toolchain preflight.
Legacy assets copied in.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522208" y="1755648"/>
            <a:ext cx="3383280" cy="100584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13648" y="1847088"/>
            <a:ext cx="32004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FAFBFC"/>
                </a:solidFill>
                <a:latin typeface="Calibri"/>
              </a:rPr>
              <a:t>Auth Working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13648" y="2212848"/>
            <a:ext cx="32004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0" i="1">
                <a:solidFill>
                  <a:srgbClr val="FAFBFC"/>
                </a:solidFill>
                <a:latin typeface="Calibri"/>
              </a:rPr>
              <a:t>Login migrated first.
Every feature depends on it.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3703320" y="2075688"/>
            <a:ext cx="731520" cy="365760"/>
          </a:xfrm>
          <a:prstGeom prst="rightArrow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0" y="246888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00C2CB"/>
                </a:solidFill>
                <a:latin typeface="Consolas"/>
              </a:rPr>
              <a:t>/scaffold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7818120" y="2075688"/>
            <a:ext cx="731520" cy="365760"/>
          </a:xfrm>
          <a:prstGeom prst="rightArrow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0" y="246888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00C2CB"/>
                </a:solidFill>
                <a:latin typeface="Consolas"/>
              </a:rPr>
              <a:t>/auth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3108960"/>
            <a:ext cx="11460175" cy="384048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3127248"/>
            <a:ext cx="11277295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0" i="0">
                <a:solidFill>
                  <a:srgbClr val="FAFBFC"/>
                </a:solidFill>
                <a:latin typeface="Segoe UI Semibold"/>
              </a:rPr>
              <a:t>PARALLEL MIGRATION   —   each developer runs   /next   or   /migrate   then   /verify   on a different unit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3657600"/>
            <a:ext cx="2221992" cy="219456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5760" y="3657600"/>
            <a:ext cx="2221992" cy="4114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3694176"/>
            <a:ext cx="2039112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0" i="0">
                <a:solidFill>
                  <a:srgbClr val="FAFBFC"/>
                </a:solidFill>
                <a:latin typeface="Segoe UI Semibold"/>
              </a:rPr>
              <a:t>Dev 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4206240"/>
            <a:ext cx="2039112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0" i="1">
                <a:solidFill>
                  <a:srgbClr val="6B7280"/>
                </a:solidFill>
                <a:latin typeface="Calibri"/>
              </a:rPr>
              <a:t>migrating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4526280"/>
            <a:ext cx="2039112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 i="0">
                <a:solidFill>
                  <a:srgbClr val="0D1B2A"/>
                </a:solidFill>
                <a:latin typeface="Calibri"/>
              </a:rPr>
              <a:t>HomePage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5488" y="5212080"/>
            <a:ext cx="2002536" cy="457200"/>
          </a:xfrm>
          <a:prstGeom prst="rect">
            <a:avLst/>
          </a:prstGeom>
          <a:solidFill>
            <a:srgbClr val="EBF2FF"/>
          </a:solidFill>
          <a:ln w="6350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5488" y="5230368"/>
            <a:ext cx="2002536" cy="42062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1A56DB"/>
                </a:solidFill>
                <a:latin typeface="Consolas"/>
              </a:rPr>
              <a:t>/migrate  →  /verify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06624" y="3657600"/>
            <a:ext cx="2221992" cy="219456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706624" y="3657600"/>
            <a:ext cx="2221992" cy="4114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98064" y="3694176"/>
            <a:ext cx="2039112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0" i="0">
                <a:solidFill>
                  <a:srgbClr val="FAFBFC"/>
                </a:solidFill>
                <a:latin typeface="Segoe UI Semibold"/>
              </a:rPr>
              <a:t>Dev B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798064" y="4206240"/>
            <a:ext cx="2039112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0" i="1">
                <a:solidFill>
                  <a:srgbClr val="6B7280"/>
                </a:solidFill>
                <a:latin typeface="Calibri"/>
              </a:rPr>
              <a:t>migrating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98064" y="4526280"/>
            <a:ext cx="2039112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 i="0">
                <a:solidFill>
                  <a:srgbClr val="0D1B2A"/>
                </a:solidFill>
                <a:latin typeface="Calibri"/>
              </a:rPr>
              <a:t>PaymentProcessor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816352" y="5212080"/>
            <a:ext cx="2002536" cy="457200"/>
          </a:xfrm>
          <a:prstGeom prst="rect">
            <a:avLst/>
          </a:prstGeom>
          <a:solidFill>
            <a:srgbClr val="EBF2FF"/>
          </a:solidFill>
          <a:ln w="6350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816352" y="5230368"/>
            <a:ext cx="2002536" cy="42062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1A56DB"/>
                </a:solidFill>
                <a:latin typeface="Consolas"/>
              </a:rPr>
              <a:t>/migrate  →  /verify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47488" y="3657600"/>
            <a:ext cx="2221992" cy="219456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047488" y="3657600"/>
            <a:ext cx="2221992" cy="4114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138928" y="3694176"/>
            <a:ext cx="2039112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0" i="0">
                <a:solidFill>
                  <a:srgbClr val="FAFBFC"/>
                </a:solidFill>
                <a:latin typeface="Segoe UI Semibold"/>
              </a:rPr>
              <a:t>Dev 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138928" y="4206240"/>
            <a:ext cx="2039112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0" i="1">
                <a:solidFill>
                  <a:srgbClr val="6B7280"/>
                </a:solidFill>
                <a:latin typeface="Calibri"/>
              </a:rPr>
              <a:t>migrating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38928" y="4526280"/>
            <a:ext cx="2039112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 i="0">
                <a:solidFill>
                  <a:srgbClr val="0D1B2A"/>
                </a:solidFill>
                <a:latin typeface="Calibri"/>
              </a:rPr>
              <a:t>OrderList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157216" y="5212080"/>
            <a:ext cx="2002536" cy="457200"/>
          </a:xfrm>
          <a:prstGeom prst="rect">
            <a:avLst/>
          </a:prstGeom>
          <a:solidFill>
            <a:srgbClr val="EBF2FF"/>
          </a:solidFill>
          <a:ln w="6350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157216" y="5230368"/>
            <a:ext cx="2002536" cy="42062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1A56DB"/>
                </a:solidFill>
                <a:latin typeface="Consolas"/>
              </a:rPr>
              <a:t>/migrate  →  /verify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388352" y="3657600"/>
            <a:ext cx="2221992" cy="219456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388352" y="3657600"/>
            <a:ext cx="2221992" cy="4114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479792" y="3694176"/>
            <a:ext cx="2039112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0" i="0">
                <a:solidFill>
                  <a:srgbClr val="FAFBFC"/>
                </a:solidFill>
                <a:latin typeface="Segoe UI Semibold"/>
              </a:rPr>
              <a:t>Dev 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479792" y="4206240"/>
            <a:ext cx="2039112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0" i="1">
                <a:solidFill>
                  <a:srgbClr val="6B7280"/>
                </a:solidFill>
                <a:latin typeface="Calibri"/>
              </a:rPr>
              <a:t>migrating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479792" y="4526280"/>
            <a:ext cx="2039112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 i="0">
                <a:solidFill>
                  <a:srgbClr val="0D1B2A"/>
                </a:solidFill>
                <a:latin typeface="Calibri"/>
              </a:rPr>
              <a:t>Dashboard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498079" y="5212080"/>
            <a:ext cx="2002536" cy="457200"/>
          </a:xfrm>
          <a:prstGeom prst="rect">
            <a:avLst/>
          </a:prstGeom>
          <a:solidFill>
            <a:srgbClr val="EBF2FF"/>
          </a:solidFill>
          <a:ln w="6350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498079" y="5230368"/>
            <a:ext cx="2002536" cy="42062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1A56DB"/>
                </a:solidFill>
                <a:latin typeface="Consolas"/>
              </a:rPr>
              <a:t>/migrate  →  /verify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729216" y="3657600"/>
            <a:ext cx="2221992" cy="219456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9729216" y="3657600"/>
            <a:ext cx="2221992" cy="4114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820656" y="3694176"/>
            <a:ext cx="2039112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0" i="0">
                <a:solidFill>
                  <a:srgbClr val="FAFBFC"/>
                </a:solidFill>
                <a:latin typeface="Segoe UI Semibold"/>
              </a:rPr>
              <a:t>Dev 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820656" y="4206240"/>
            <a:ext cx="2039112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0" i="1">
                <a:solidFill>
                  <a:srgbClr val="6B7280"/>
                </a:solidFill>
                <a:latin typeface="Calibri"/>
              </a:rPr>
              <a:t>migrating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820656" y="4526280"/>
            <a:ext cx="2039112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 i="0">
                <a:solidFill>
                  <a:srgbClr val="0D1B2A"/>
                </a:solidFill>
                <a:latin typeface="Calibri"/>
              </a:rPr>
              <a:t>ProfileEditor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838944" y="5212080"/>
            <a:ext cx="2002536" cy="457200"/>
          </a:xfrm>
          <a:prstGeom prst="rect">
            <a:avLst/>
          </a:prstGeom>
          <a:solidFill>
            <a:srgbClr val="EBF2FF"/>
          </a:solidFill>
          <a:ln w="6350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838944" y="5230368"/>
            <a:ext cx="2002536" cy="42062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1A56DB"/>
                </a:solidFill>
                <a:latin typeface="Consolas"/>
              </a:rPr>
              <a:t>/migrate  →  /verify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65760" y="5925312"/>
            <a:ext cx="11460175" cy="23774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/verify enforces lint + type-check + tests + behavioural-parity + security checks (plus an advisory code-quality review) before a unit is marked done.  Per-unit git files mean zero merge conflicts.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65760" y="6199632"/>
            <a:ext cx="11460175" cy="329184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57200" y="6217920"/>
            <a:ext cx="11277295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FAFBFC"/>
                </a:solidFill>
                <a:latin typeface="Calibri"/>
              </a:rPr>
              <a:t>Setup is sequential and short.  Migration is parallel and scales with team size.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" cy="96012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91440"/>
            <a:ext cx="117043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FAFBFC"/>
                </a:solidFill>
                <a:latin typeface="Segoe UI Semibold"/>
              </a:rPr>
              <a:t>What the Plugin Adds to Claude Code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566928"/>
            <a:ext cx="117043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00C2CB"/>
                </a:solidFill>
                <a:latin typeface="Calibri"/>
              </a:rPr>
              <a:t>Every developer already has Claude Code — here is what changes when you add web-modernize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E6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620256"/>
            <a:ext cx="987552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web-modernize v0.13.0   ·   Balaji Harikrishnan   ·   Cognizant   ·   June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620256"/>
            <a:ext cx="77724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Segoe UI Semibold"/>
              </a:rPr>
              <a:t>06  / 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188720"/>
            <a:ext cx="2062831" cy="54864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225296"/>
            <a:ext cx="1879951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0" i="0">
                <a:solidFill>
                  <a:srgbClr val="FAFBFC"/>
                </a:solidFill>
                <a:latin typeface="Segoe UI Semibold"/>
              </a:rPr>
              <a:t>Category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28591" y="1188720"/>
            <a:ext cx="4698671" cy="548640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20031" y="1225296"/>
            <a:ext cx="4515791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0" i="0">
                <a:solidFill>
                  <a:srgbClr val="FAFBFC"/>
                </a:solidFill>
                <a:latin typeface="Segoe UI Semibold"/>
              </a:rPr>
              <a:t>Without the plugin   (raw Claude Code)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27263" y="1188720"/>
            <a:ext cx="4698671" cy="54864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18703" y="1225296"/>
            <a:ext cx="4515791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0" i="0">
                <a:solidFill>
                  <a:srgbClr val="FAFBFC"/>
                </a:solidFill>
                <a:latin typeface="Segoe UI Semibold"/>
              </a:rPr>
              <a:t>With   web-modernize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1737360"/>
            <a:ext cx="2062831" cy="54864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488" y="1783080"/>
            <a:ext cx="1843375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0D1B2A"/>
                </a:solidFill>
                <a:latin typeface="Calibri"/>
              </a:rPr>
              <a:t>Setup ergonomics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28591" y="1737360"/>
            <a:ext cx="4698671" cy="54864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565751" y="1810512"/>
            <a:ext cx="4424351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Developer hand-edits a config file: which target framework? which strategy? which auth? Easy to miss a field, no validation until later.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127263" y="1737360"/>
            <a:ext cx="4698671" cy="548640"/>
          </a:xfrm>
          <a:prstGeom prst="rect">
            <a:avLst/>
          </a:prstGeom>
          <a:solidFill>
            <a:srgbClr val="EBF2FF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64423" y="1810512"/>
            <a:ext cx="4424351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/analyze walks the team through every required choice with stack-aware recommendations — pick from a list, the plugin writes the config.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2286000"/>
            <a:ext cx="2062831" cy="54864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488" y="2331720"/>
            <a:ext cx="1843375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0D1B2A"/>
                </a:solidFill>
                <a:latin typeface="Calibri"/>
              </a:rPr>
              <a:t>Tool discovery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28591" y="2286000"/>
            <a:ext cx="4698671" cy="548640"/>
          </a:xfrm>
          <a:prstGeom prst="rect">
            <a:avLst/>
          </a:prstGeom>
          <a:solidFill>
            <a:srgbClr val="E6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565751" y="2359152"/>
            <a:ext cx="4424351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Developer memorises slash commands or hunts through docs — 'what was the command to retry a failed unit again?'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27263" y="2286000"/>
            <a:ext cx="4698671" cy="548640"/>
          </a:xfrm>
          <a:prstGeom prst="rect">
            <a:avLst/>
          </a:prstGeom>
          <a:solidFill>
            <a:srgbClr val="EBF2FF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64423" y="2359152"/>
            <a:ext cx="4424351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Type plain English — 'what's next', 'let's plan', 'stuck lock' — and the right skill auto-fires. No memorisation.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2834640"/>
            <a:ext cx="2062831" cy="54864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488" y="2880360"/>
            <a:ext cx="1843375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0D1B2A"/>
                </a:solidFill>
                <a:latin typeface="Calibri"/>
              </a:rPr>
              <a:t>Defining the work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28591" y="2834640"/>
            <a:ext cx="4698671" cy="54864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565751" y="2907792"/>
            <a:ext cx="4424351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Each developer decides what to migrate next based on chat or a shared doc — no sized backlog.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27263" y="2834640"/>
            <a:ext cx="4698671" cy="548640"/>
          </a:xfrm>
          <a:prstGeom prst="rect">
            <a:avLst/>
          </a:prstGeom>
          <a:solidFill>
            <a:srgbClr val="EBF2FF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64423" y="2907792"/>
            <a:ext cx="4424351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/plan generates a sized, dependency-ordered backlog — every unit is estimable and assignable.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3383280"/>
            <a:ext cx="2062831" cy="54864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488" y="3429000"/>
            <a:ext cx="1843375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0D1B2A"/>
                </a:solidFill>
                <a:latin typeface="Calibri"/>
              </a:rPr>
              <a:t>Project context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28591" y="3383280"/>
            <a:ext cx="4698671" cy="548640"/>
          </a:xfrm>
          <a:prstGeom prst="rect">
            <a:avLst/>
          </a:prstGeom>
          <a:solidFill>
            <a:srgbClr val="E6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565751" y="3456432"/>
            <a:ext cx="4424351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Re-explain the legacy stack, target stack, and conventions on every prompt and every new session.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127263" y="3383280"/>
            <a:ext cx="4698671" cy="548640"/>
          </a:xfrm>
          <a:prstGeom prst="rect">
            <a:avLst/>
          </a:prstGeom>
          <a:solidFill>
            <a:srgbClr val="EBF2FF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264423" y="3456432"/>
            <a:ext cx="4424351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Captured once in migration.md — every command reads it automatically, every developer stays aligned.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931920"/>
            <a:ext cx="2062831" cy="54864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5488" y="3977640"/>
            <a:ext cx="1843375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0D1B2A"/>
                </a:solidFill>
                <a:latin typeface="Calibri"/>
              </a:rPr>
              <a:t>Team coordination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28591" y="3931920"/>
            <a:ext cx="4698671" cy="54864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565751" y="4005072"/>
            <a:ext cx="4424351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20+ developers prompting in parallel produce merge conflicts and silently duplicated work.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127263" y="3931920"/>
            <a:ext cx="4698671" cy="548640"/>
          </a:xfrm>
          <a:prstGeom prst="rect">
            <a:avLst/>
          </a:prstGeom>
          <a:solidFill>
            <a:srgbClr val="EBF2FF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264423" y="4005072"/>
            <a:ext cx="4424351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Per-unit git files mean Alice and Bob's work touch zero shared files — conflict-free by design.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5760" y="4480560"/>
            <a:ext cx="2062831" cy="54864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75488" y="4526280"/>
            <a:ext cx="1843375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0D1B2A"/>
                </a:solidFill>
                <a:latin typeface="Calibri"/>
              </a:rPr>
              <a:t>Quality assurance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428591" y="4480560"/>
            <a:ext cx="4698671" cy="548640"/>
          </a:xfrm>
          <a:prstGeom prst="rect">
            <a:avLst/>
          </a:prstGeom>
          <a:solidFill>
            <a:srgbClr val="E6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565751" y="4553712"/>
            <a:ext cx="4424351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Verification is whatever the developer remembers to run — lint, types, tests can be skipped.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127263" y="4480560"/>
            <a:ext cx="4698671" cy="548640"/>
          </a:xfrm>
          <a:prstGeom prst="rect">
            <a:avLst/>
          </a:prstGeom>
          <a:solidFill>
            <a:srgbClr val="EBF2FF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264423" y="4553712"/>
            <a:ext cx="4424351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/verify enforces lint, type-check, tests, and a behavioural-parity check as a hard gate before a unit is marked done.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65760" y="5029200"/>
            <a:ext cx="2062831" cy="54864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75488" y="5074920"/>
            <a:ext cx="1843375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0D1B2A"/>
                </a:solidFill>
                <a:latin typeface="Calibri"/>
              </a:rPr>
              <a:t>Failure recovery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428591" y="5029200"/>
            <a:ext cx="4698671" cy="54864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565751" y="5102352"/>
            <a:ext cx="4424351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A failed migration leaves broken files behind — recovery is manual git surgery, no audit trail.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127263" y="5029200"/>
            <a:ext cx="4698671" cy="548640"/>
          </a:xfrm>
          <a:prstGeom prst="rect">
            <a:avLst/>
          </a:prstGeom>
          <a:solidFill>
            <a:srgbClr val="EBF2FF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264423" y="5102352"/>
            <a:ext cx="4424351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/rollback reverts a unit cleanly in one command; /retry preserves every diagnostic for review.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65760" y="5577840"/>
            <a:ext cx="2062831" cy="54864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75488" y="5623560"/>
            <a:ext cx="1843375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0D1B2A"/>
                </a:solidFill>
                <a:latin typeface="Calibri"/>
              </a:rPr>
              <a:t>Leadership reporting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28591" y="5577840"/>
            <a:ext cx="4698671" cy="548640"/>
          </a:xfrm>
          <a:prstGeom prst="rect">
            <a:avLst/>
          </a:prstGeom>
          <a:solidFill>
            <a:srgbClr val="E6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565751" y="5650992"/>
            <a:ext cx="4424351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Progress lives in chat and spreadsheets — burndown is manual, ETA is a guess, risks are anecdotal.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127263" y="5577840"/>
            <a:ext cx="4698671" cy="548640"/>
          </a:xfrm>
          <a:prstGeom prst="rect">
            <a:avLst/>
          </a:prstGeom>
          <a:solidFill>
            <a:srgbClr val="EBF2FF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264423" y="5650992"/>
            <a:ext cx="4424351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/report generates burndown, velocity, and ETA from git state — always accurate, no upkeep.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6199632"/>
            <a:ext cx="11460175" cy="329184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57200" y="6217920"/>
            <a:ext cx="11277295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FAFBFC"/>
                </a:solidFill>
                <a:latin typeface="Calibri"/>
              </a:rPr>
              <a:t>Same Claude Code engine.  Structured workflow on top.  Every advantage above maps to a concrete plugin feature.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" cy="96012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91440"/>
            <a:ext cx="117043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FAFBFC"/>
                </a:solidFill>
                <a:latin typeface="Segoe UI Semibold"/>
              </a:rPr>
              <a:t>Risk, Safety, and Reversibility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566928"/>
            <a:ext cx="117043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00C2CB"/>
                </a:solidFill>
                <a:latin typeface="Calibri"/>
              </a:rPr>
              <a:t>What if the AI gets it wrong?  —  every change is reviewable, reversible, and auditable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E6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620256"/>
            <a:ext cx="987552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web-modernize v0.13.0   ·   Balaji Harikrishnan   ·   Cognizant   ·   June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620256"/>
            <a:ext cx="77724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Segoe UI Semibold"/>
              </a:rPr>
              <a:t>07  / 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188720"/>
            <a:ext cx="3694176" cy="443484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1188720"/>
            <a:ext cx="91440" cy="443484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1371600"/>
            <a:ext cx="3328416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1A56DB"/>
                </a:solidFill>
                <a:latin typeface="Calibri"/>
              </a:rPr>
              <a:t>Nothing is one-way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965960"/>
            <a:ext cx="3328416" cy="34747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Every action is recorded in git — the team can see who did what, when, with what input. One command  (/rollback --unit &lt;id&gt;)  reverts a single unit cleanly. Destructive commands  (/abandon --hard)  require a two-step confirmation; no accidental wipes. Per-unit notes capture the why alongside the what.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42816" y="1188720"/>
            <a:ext cx="3694176" cy="4434840"/>
          </a:xfrm>
          <a:prstGeom prst="rect">
            <a:avLst/>
          </a:prstGeom>
          <a:solidFill>
            <a:srgbClr val="FAFBFC"/>
          </a:solidFill>
          <a:ln w="9525">
            <a:solidFill>
              <a:srgbClr val="00C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42816" y="1188720"/>
            <a:ext cx="91440" cy="443484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71416" y="1371600"/>
            <a:ext cx="3328416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00C2CB"/>
                </a:solidFill>
                <a:latin typeface="Calibri"/>
              </a:rPr>
              <a:t>Nothing ships unverified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71416" y="1965960"/>
            <a:ext cx="3328416" cy="34747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/verify is a hard gate — lint, type-check, and tests must pass before a unit transitions from migrated to verified. A read-only parity-reviewer then compares migrated vs legacy — validation, output shape, errors, UI states, and security (dropped authorization, injection, secret leakage); high-severity differences block until acknowledged via /parity-check. An advisory migration-critic flags non-idiomatic code, and discovered credentials are masked in every shared artifact. /retry --with-prompt re-attempts with human guidance.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19872" y="1188720"/>
            <a:ext cx="3694176" cy="4434840"/>
          </a:xfrm>
          <a:prstGeom prst="rect">
            <a:avLst/>
          </a:prstGeom>
          <a:solidFill>
            <a:srgbClr val="FAFBFC"/>
          </a:solidFill>
          <a:ln w="952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19872" y="1188720"/>
            <a:ext cx="91440" cy="44348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48472" y="1371600"/>
            <a:ext cx="3328416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10B981"/>
                </a:solidFill>
                <a:latin typeface="Calibri"/>
              </a:rPr>
              <a:t>Nothing is hidden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48472" y="1965960"/>
            <a:ext cx="3328416" cy="34747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All state lives in git as JSON — auditable, diffable, code-reviewable. /status shows real-time who's working on what; stale sessions surface automatically. Per-unit file split means each developer's work appears as its own commit; nothing hides in a merge.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5852160"/>
            <a:ext cx="11460175" cy="68580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870448"/>
            <a:ext cx="11277295" cy="32918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500" b="1" i="0">
                <a:solidFill>
                  <a:srgbClr val="FAFBFC"/>
                </a:solidFill>
                <a:latin typeface="Segoe UI Semibold"/>
              </a:rPr>
              <a:t>Every AI-generated change is reviewable, reversible, and auditable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199632"/>
            <a:ext cx="11277295" cy="31089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0" i="1">
                <a:solidFill>
                  <a:srgbClr val="00C2CB"/>
                </a:solidFill>
                <a:latin typeface="Calibri"/>
              </a:rPr>
              <a:t>Not a one-way bet on the model getting it right the first time.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" cy="96012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91440"/>
            <a:ext cx="117043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FAFBFC"/>
                </a:solidFill>
                <a:latin typeface="Segoe UI Semibold"/>
              </a:rPr>
              <a:t>Natural Language  &amp;  Pluggable Framework Library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566928"/>
            <a:ext cx="117043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00C2CB"/>
                </a:solidFill>
                <a:latin typeface="Calibri"/>
              </a:rPr>
              <a:t>Two improvements in v0.10.0 that make the plugin easier to use and easier to extend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E6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620256"/>
            <a:ext cx="987552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web-modernize v0.13.0   ·   Balaji Harikrishnan   ·   Cognizant   ·   June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620256"/>
            <a:ext cx="77724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Segoe UI Semibold"/>
              </a:rPr>
              <a:t>08  / 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188720"/>
            <a:ext cx="5632704" cy="384048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5486400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 i="0">
                <a:solidFill>
                  <a:srgbClr val="FAFBFC"/>
                </a:solidFill>
                <a:latin typeface="Segoe UI Semibold"/>
              </a:rPr>
              <a:t>TALK TO IT NATURALLY   —   no slash commands required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1627632"/>
            <a:ext cx="5632704" cy="86868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1673352"/>
            <a:ext cx="5358384" cy="7955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Every skill's description now packs intent phrases + a lifecycle anchor. Claude's native skill matcher routes plain-English requests to the right command — developers stop memorising 17 slash commands.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606040"/>
            <a:ext cx="2926080" cy="32004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624328"/>
            <a:ext cx="2743200" cy="28346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FAFBFC"/>
                </a:solidFill>
                <a:latin typeface="Segoe UI Semibold"/>
              </a:rPr>
              <a:t>You type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91840" y="2606040"/>
            <a:ext cx="2706624" cy="32004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83280" y="2624328"/>
            <a:ext cx="2523744" cy="28346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FAFBFC"/>
                </a:solidFill>
                <a:latin typeface="Segoe UI Semibold"/>
              </a:rPr>
              <a:t>Skill that fires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926080"/>
            <a:ext cx="2926080" cy="32004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944368"/>
            <a:ext cx="2743200" cy="28346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1">
                <a:solidFill>
                  <a:srgbClr val="1F2937"/>
                </a:solidFill>
                <a:latin typeface="Calibri"/>
              </a:rPr>
              <a:t>“what's next”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91840" y="2926080"/>
            <a:ext cx="2706624" cy="32004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83280" y="2944368"/>
            <a:ext cx="2523744" cy="28346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1" i="0">
                <a:solidFill>
                  <a:srgbClr val="1A56DB"/>
                </a:solidFill>
                <a:latin typeface="Consolas"/>
              </a:rPr>
              <a:t>/next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3246120"/>
            <a:ext cx="2926080" cy="320040"/>
          </a:xfrm>
          <a:prstGeom prst="rect">
            <a:avLst/>
          </a:prstGeom>
          <a:solidFill>
            <a:srgbClr val="EB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3264408"/>
            <a:ext cx="2743200" cy="28346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1">
                <a:solidFill>
                  <a:srgbClr val="1F2937"/>
                </a:solidFill>
                <a:latin typeface="Calibri"/>
              </a:rPr>
              <a:t>“let's plan it”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91840" y="3246120"/>
            <a:ext cx="2706624" cy="320040"/>
          </a:xfrm>
          <a:prstGeom prst="rect">
            <a:avLst/>
          </a:prstGeom>
          <a:solidFill>
            <a:srgbClr val="EB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383280" y="3264408"/>
            <a:ext cx="2523744" cy="28346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1" i="0">
                <a:solidFill>
                  <a:srgbClr val="1A56DB"/>
                </a:solidFill>
                <a:latin typeface="Consolas"/>
              </a:rPr>
              <a:t>/plan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3566160"/>
            <a:ext cx="2926080" cy="32004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584448"/>
            <a:ext cx="2743200" cy="28346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1">
                <a:solidFill>
                  <a:srgbClr val="1F2937"/>
                </a:solidFill>
                <a:latin typeface="Calibri"/>
              </a:rPr>
              <a:t>“where are we”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91840" y="3566160"/>
            <a:ext cx="2706624" cy="32004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383280" y="3584448"/>
            <a:ext cx="2523744" cy="28346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1" i="0">
                <a:solidFill>
                  <a:srgbClr val="1A56DB"/>
                </a:solidFill>
                <a:latin typeface="Consolas"/>
              </a:rPr>
              <a:t>/status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3886200"/>
            <a:ext cx="2926080" cy="320040"/>
          </a:xfrm>
          <a:prstGeom prst="rect">
            <a:avLst/>
          </a:prstGeom>
          <a:solidFill>
            <a:srgbClr val="EB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3904487"/>
            <a:ext cx="2743200" cy="28346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1">
                <a:solidFill>
                  <a:srgbClr val="1F2937"/>
                </a:solidFill>
                <a:latin typeface="Calibri"/>
              </a:rPr>
              <a:t>“migrate the login page”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91840" y="3886200"/>
            <a:ext cx="2706624" cy="320040"/>
          </a:xfrm>
          <a:prstGeom prst="rect">
            <a:avLst/>
          </a:prstGeom>
          <a:solidFill>
            <a:srgbClr val="EB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83280" y="3904487"/>
            <a:ext cx="2523744" cy="28346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1" i="0">
                <a:solidFill>
                  <a:srgbClr val="1A56DB"/>
                </a:solidFill>
                <a:latin typeface="Consolas"/>
              </a:rPr>
              <a:t>/migrate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4206240"/>
            <a:ext cx="2926080" cy="32004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" y="4224527"/>
            <a:ext cx="2743200" cy="28346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1">
                <a:solidFill>
                  <a:srgbClr val="1F2937"/>
                </a:solidFill>
                <a:latin typeface="Calibri"/>
              </a:rPr>
              <a:t>“stuck lock”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91840" y="4206240"/>
            <a:ext cx="2706624" cy="32004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83280" y="4224527"/>
            <a:ext cx="2523744" cy="28346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1" i="0">
                <a:solidFill>
                  <a:srgbClr val="1A56DB"/>
                </a:solidFill>
                <a:latin typeface="Consolas"/>
              </a:rPr>
              <a:t>/unlock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5760" y="4526280"/>
            <a:ext cx="2926080" cy="320040"/>
          </a:xfrm>
          <a:prstGeom prst="rect">
            <a:avLst/>
          </a:prstGeom>
          <a:solidFill>
            <a:srgbClr val="EB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" y="4544568"/>
            <a:ext cx="2743200" cy="28346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1">
                <a:solidFill>
                  <a:srgbClr val="1F2937"/>
                </a:solidFill>
                <a:latin typeface="Calibri"/>
              </a:rPr>
              <a:t>“start over”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291840" y="4526280"/>
            <a:ext cx="2706624" cy="320040"/>
          </a:xfrm>
          <a:prstGeom prst="rect">
            <a:avLst/>
          </a:prstGeom>
          <a:solidFill>
            <a:srgbClr val="EB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383280" y="4544568"/>
            <a:ext cx="2523744" cy="28346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1" i="0">
                <a:solidFill>
                  <a:srgbClr val="1A56DB"/>
                </a:solidFill>
                <a:latin typeface="Consolas"/>
              </a:rPr>
              <a:t>/abandon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90488" y="1188720"/>
            <a:ext cx="5632704" cy="384048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27648" y="1207008"/>
            <a:ext cx="5486400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 i="0">
                <a:solidFill>
                  <a:srgbClr val="FAFBFC"/>
                </a:solidFill>
                <a:latin typeface="Segoe UI Semibold"/>
              </a:rPr>
              <a:t>PLUGGABLE FRAMEWORKS   —   drop a file, get a new stack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190488" y="1627632"/>
            <a:ext cx="5632704" cy="868680"/>
          </a:xfrm>
          <a:prstGeom prst="rect">
            <a:avLst/>
          </a:prstGeom>
          <a:solidFill>
            <a:srgbClr val="FAFBFC"/>
          </a:solidFill>
          <a:ln w="9525">
            <a:solidFill>
              <a:srgbClr val="00C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27648" y="1673352"/>
            <a:ext cx="5358384" cy="7955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31 frameworks/&lt;name&gt;.md files — one per supported stack — hold the recipes /scaffold, /auth, and legacy-analyzer all read on demand. Adding a new framework is a one-file drop-in.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190488" y="2606040"/>
            <a:ext cx="2697480" cy="777240"/>
          </a:xfrm>
          <a:prstGeom prst="rect">
            <a:avLst/>
          </a:prstGeom>
          <a:solidFill>
            <a:srgbClr val="FAFBFC"/>
          </a:solidFill>
          <a:ln w="9525">
            <a:solidFill>
              <a:srgbClr val="00C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190488" y="2606040"/>
            <a:ext cx="731520" cy="77724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190488" y="2606040"/>
            <a:ext cx="73152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800" b="0" i="0">
                <a:solidFill>
                  <a:srgbClr val="FAFBFC"/>
                </a:solidFill>
                <a:latin typeface="Segoe UI Semibold"/>
              </a:rPr>
              <a:t>17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13448" y="2651760"/>
            <a:ext cx="1783080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Legacy source stacks auto-detected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979408" y="2606040"/>
            <a:ext cx="2697480" cy="777240"/>
          </a:xfrm>
          <a:prstGeom prst="rect">
            <a:avLst/>
          </a:prstGeom>
          <a:solidFill>
            <a:srgbClr val="FAFBFC"/>
          </a:solidFill>
          <a:ln w="9525">
            <a:solidFill>
              <a:srgbClr val="00C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979408" y="2606040"/>
            <a:ext cx="731520" cy="77724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979408" y="2606040"/>
            <a:ext cx="73152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800" b="0" i="0">
                <a:solidFill>
                  <a:srgbClr val="FAFBFC"/>
                </a:solidFill>
                <a:latin typeface="Segoe UI Semibold"/>
              </a:rPr>
              <a:t>14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802368" y="2651760"/>
            <a:ext cx="1783080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Modern targets with full scaffold recipes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190488" y="3474720"/>
            <a:ext cx="2697480" cy="777240"/>
          </a:xfrm>
          <a:prstGeom prst="rect">
            <a:avLst/>
          </a:prstGeom>
          <a:solidFill>
            <a:srgbClr val="FAFBFC"/>
          </a:solidFill>
          <a:ln w="9525">
            <a:solidFill>
              <a:srgbClr val="00C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190488" y="3474720"/>
            <a:ext cx="731520" cy="77724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190488" y="3474720"/>
            <a:ext cx="73152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800" b="0" i="0">
                <a:solidFill>
                  <a:srgbClr val="FAFBFC"/>
                </a:solidFill>
                <a:latin typeface="Segoe UI Semibold"/>
              </a:rPr>
              <a:t>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013448" y="3520439"/>
            <a:ext cx="1783080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File to add a brand-new framework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979408" y="3474720"/>
            <a:ext cx="2697480" cy="777240"/>
          </a:xfrm>
          <a:prstGeom prst="rect">
            <a:avLst/>
          </a:prstGeom>
          <a:solidFill>
            <a:srgbClr val="FAFBFC"/>
          </a:solidFill>
          <a:ln w="9525">
            <a:solidFill>
              <a:srgbClr val="00C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8979408" y="3474720"/>
            <a:ext cx="731520" cy="77724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979408" y="3474720"/>
            <a:ext cx="73152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800" b="0" i="0">
                <a:solidFill>
                  <a:srgbClr val="FAFBFC"/>
                </a:solidFill>
                <a:latin typeface="Segoe UI Semibold"/>
              </a:rPr>
              <a:t>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02368" y="3520439"/>
            <a:ext cx="1783080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Plugin code changes needed for the new framework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4434840"/>
            <a:ext cx="11457432" cy="384048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02920" y="4453128"/>
            <a:ext cx="11247120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 i="0">
                <a:solidFill>
                  <a:srgbClr val="FAFBFC"/>
                </a:solidFill>
                <a:latin typeface="Segoe UI Semibold"/>
              </a:rPr>
              <a:t>UNKNOWN-TECH PATH   —   when the framework isn't in the library yet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4901184"/>
            <a:ext cx="3611880" cy="1280160"/>
          </a:xfrm>
          <a:prstGeom prst="rect">
            <a:avLst/>
          </a:prstGeom>
          <a:solidFill>
            <a:srgbClr val="FAFBFC"/>
          </a:solidFill>
          <a:ln w="9525">
            <a:solidFill>
              <a:srgbClr val="0D1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365760" y="4901184"/>
            <a:ext cx="3611880" cy="292608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7200" y="4919472"/>
            <a:ext cx="342900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FAFBFC"/>
                </a:solidFill>
                <a:latin typeface="Calibri"/>
              </a:rPr>
              <a:t>Source unknown?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5488" y="5266944"/>
            <a:ext cx="3392424" cy="841247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/analyze shows the raw evidence (file extensions, library refs, build files) and asks you to name the stack. Migration continues with the user-supplied name.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288536" y="4901184"/>
            <a:ext cx="3611880" cy="1280160"/>
          </a:xfrm>
          <a:prstGeom prst="rect">
            <a:avLst/>
          </a:prstGeom>
          <a:solidFill>
            <a:srgbClr val="FAFBFC"/>
          </a:solidFill>
          <a:ln w="9525">
            <a:solidFill>
              <a:srgbClr val="0D1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288536" y="4901184"/>
            <a:ext cx="3611880" cy="292608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379976" y="4919472"/>
            <a:ext cx="342900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FAFBFC"/>
                </a:solidFill>
                <a:latin typeface="Calibri"/>
              </a:rPr>
              <a:t>Target unknown?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398264" y="5266944"/>
            <a:ext cx="3392424" cy="841247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/scaffold asks 3 questions: scaffold command, test framework, verify commands. Answers persist in verify.config.json so retries don't re-ask.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211312" y="4901184"/>
            <a:ext cx="3611880" cy="1280160"/>
          </a:xfrm>
          <a:prstGeom prst="rect">
            <a:avLst/>
          </a:prstGeom>
          <a:solidFill>
            <a:srgbClr val="FAFBFC"/>
          </a:solidFill>
          <a:ln w="9525">
            <a:solidFill>
              <a:srgbClr val="0D1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8211312" y="4901184"/>
            <a:ext cx="3611880" cy="292608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302752" y="4919472"/>
            <a:ext cx="342900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FAFBFC"/>
                </a:solidFill>
                <a:latin typeface="Calibri"/>
              </a:rPr>
              <a:t>Auth unknown?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321040" y="5266944"/>
            <a:ext cx="3392424" cy="841247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/auth skips the prebuilt password-hashing template, defers to permanent-gotchas + OWASP guidance. Auth migration completes; the team supplies code.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65760" y="6327648"/>
            <a:ext cx="11460175" cy="219456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57200" y="6336792"/>
            <a:ext cx="11277295" cy="20116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FAFBFC"/>
                </a:solidFill>
                <a:latin typeface="Calibri"/>
              </a:rPr>
              <a:t>Friendlier to onboarding.  Quieter when the right answer is obvious.  Never stuck on an unsupported stack.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" cy="96012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91440"/>
            <a:ext cx="117043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FAFBFC"/>
                </a:solidFill>
                <a:latin typeface="Segoe UI Semibold"/>
              </a:rPr>
              <a:t>Built for Sprint and PI Planning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566928"/>
            <a:ext cx="117043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00C2CB"/>
                </a:solidFill>
                <a:latin typeface="Calibri"/>
              </a:rPr>
              <a:t>The plugin speaks backlog, dependencies, sprints, and burndown natively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E6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620256"/>
            <a:ext cx="987552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web-modernize v0.13.0   ·   Balaji Harikrishnan   ·   Cognizant   ·   June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620256"/>
            <a:ext cx="77724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Segoe UI Semibold"/>
              </a:rPr>
              <a:t>09  / 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188720"/>
            <a:ext cx="3694176" cy="224028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1188720"/>
            <a:ext cx="73152" cy="22402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1353312"/>
            <a:ext cx="33832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A56DB"/>
                </a:solidFill>
                <a:latin typeface="Calibri"/>
              </a:rPr>
              <a:t>/plan  =  Sprint or PI planning 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828800"/>
            <a:ext cx="338328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Auto-generates the full migration backlog. One estimable item per page or feature — ready for sizing, prioritisation, and assignment.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42816" y="1188720"/>
            <a:ext cx="3694176" cy="224028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42816" y="1188720"/>
            <a:ext cx="73152" cy="22402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43984" y="1353312"/>
            <a:ext cx="33832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A56DB"/>
                </a:solidFill>
                <a:latin typeface="Calibri"/>
              </a:rPr>
              <a:t>Each unit  =  one estimable backlog item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984" y="1828800"/>
            <a:ext cx="338328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Sized S / M / L / XL by file count and complexity. Discrete and independently testable, with a clear definition of done (/verify must pass). XL units become epics — teams decompose them into sprint-sized work during PI planning.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19872" y="1188720"/>
            <a:ext cx="3694176" cy="224028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19872" y="1188720"/>
            <a:ext cx="73152" cy="22402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21040" y="1353312"/>
            <a:ext cx="33832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A56DB"/>
                </a:solidFill>
                <a:latin typeface="Calibri"/>
              </a:rPr>
              <a:t>Dependencies built 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1828800"/>
            <a:ext cx="338328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/plan declares which units depend on which — a natural sequencing input for sprint commitment and PI iteration goals.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3611880"/>
            <a:ext cx="3694176" cy="224028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65760" y="3611880"/>
            <a:ext cx="73152" cy="22402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3776472"/>
            <a:ext cx="33832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A56DB"/>
                </a:solidFill>
                <a:latin typeface="Calibri"/>
              </a:rPr>
              <a:t>Standup-friendly coordination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4251960"/>
            <a:ext cx="338328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Teams pick assignments at standup, just like any sprint. Behind the scenes the plugin stores each unit's progress in its own file — so two developers on different units never collide in git.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42816" y="3611880"/>
            <a:ext cx="3694176" cy="224028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242816" y="3611880"/>
            <a:ext cx="73152" cy="22402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43984" y="3776472"/>
            <a:ext cx="33832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A56DB"/>
                </a:solidFill>
                <a:latin typeface="Calibri"/>
              </a:rPr>
              <a:t>/status  =  real-time team kanban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43984" y="4251960"/>
            <a:ext cx="338328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Read-only view showing pending, in-flight, blocked, and done units across the whole team. Refreshes on every git pull.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19872" y="3611880"/>
            <a:ext cx="3694176" cy="224028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19872" y="3611880"/>
            <a:ext cx="73152" cy="22402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21040" y="3776472"/>
            <a:ext cx="33832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A56DB"/>
                </a:solidFill>
                <a:latin typeface="Calibri"/>
              </a:rPr>
              <a:t>/report  =  burndown and ETA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4251960"/>
            <a:ext cx="338328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Run /report whenever you need a burndown chart, velocity trend, or completion ETA — perfect for sprint reviews and PI demos. Numbers come from the team's actual git history, not a spreadsheet someone has to maintain.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6172200"/>
            <a:ext cx="11460175" cy="36576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" y="6199632"/>
            <a:ext cx="11277295" cy="31089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FAFBFC"/>
                </a:solidFill>
                <a:latin typeface="Calibri"/>
              </a:rPr>
              <a:t>Designed for Scaled Agile  —  multiple feature teams in one ART can migrate different units in the same PI without colliding.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" cy="96012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91440"/>
            <a:ext cx="117043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FAFBFC"/>
                </a:solidFill>
                <a:latin typeface="Segoe UI Semibold"/>
              </a:rPr>
              <a:t>The 17 Skills  (Slash Commands)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566928"/>
            <a:ext cx="117043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00C2CB"/>
                </a:solidFill>
                <a:latin typeface="Calibri"/>
              </a:rPr>
              <a:t>Each skill is exposed as a slash command — or auto-fires from plain English (see slide 8)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E6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620256"/>
            <a:ext cx="987552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web-modernize v0.13.0   ·   Balaji Harikrishnan   ·   Cognizant   ·   June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620256"/>
            <a:ext cx="77724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Segoe UI Semibold"/>
              </a:rPr>
              <a:t>10  /  12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188720"/>
          <a:ext cx="11460174" cy="54315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62831"/>
                <a:gridCol w="9397343"/>
              </a:tblGrid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FAFBFC"/>
                          </a:solidFill>
                          <a:latin typeface="Segoe UI Semibold"/>
                        </a:rPr>
                        <a:t>Command</a:t>
                      </a:r>
                    </a:p>
                  </a:txBody>
                  <a:tcPr anchor="ctr" marL="73152" marR="73152" marT="18288" marB="18288">
                    <a:solidFill>
                      <a:srgbClr val="1A56D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FAFBFC"/>
                          </a:solidFill>
                          <a:latin typeface="Segoe UI Semibold"/>
                        </a:rPr>
                        <a:t>What It Does (Plain English)</a:t>
                      </a:r>
                    </a:p>
                  </a:txBody>
                  <a:tcPr anchor="ctr" marL="73152" marR="73152" marT="18288" marB="18288">
                    <a:solidFill>
                      <a:srgbClr val="1A56DB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A56DB"/>
                          </a:solidFill>
                          <a:latin typeface="Consolas"/>
                        </a:rPr>
                        <a:t>/init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937"/>
                          </a:solidFill>
                          <a:latin typeface="Calibri"/>
                        </a:rPr>
                        <a:t>Sets up the migration workspace inside the legacy repository.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A56DB"/>
                          </a:solidFill>
                          <a:latin typeface="Consolas"/>
                        </a:rPr>
                        <a:t>/analyze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937"/>
                          </a:solidFill>
                          <a:latin typeface="Calibri"/>
                        </a:rPr>
                        <a:t>Auto-detects the legacy technology stack and inventories every component.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A56DB"/>
                          </a:solidFill>
                          <a:latin typeface="Consolas"/>
                        </a:rPr>
                        <a:t>/plan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937"/>
                          </a:solidFill>
                          <a:latin typeface="Calibri"/>
                        </a:rPr>
                        <a:t>Validates the config and generates the full migration backlog — one item per page or feature.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A56DB"/>
                          </a:solidFill>
                          <a:latin typeface="Consolas"/>
                        </a:rPr>
                        <a:t>/scaffold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937"/>
                          </a:solidFill>
                          <a:latin typeface="Calibri"/>
                        </a:rPr>
                        <a:t>Creates the blank modern application skeleton and copies legacy images, fonts, and assets.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A56DB"/>
                          </a:solidFill>
                          <a:latin typeface="Consolas"/>
                        </a:rPr>
                        <a:t>/auth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937"/>
                          </a:solidFill>
                          <a:latin typeface="Calibri"/>
                        </a:rPr>
                        <a:t>Migrates login and authentication first, because every feature depends on it.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A56DB"/>
                          </a:solidFill>
                          <a:latin typeface="Consolas"/>
                        </a:rPr>
                        <a:t>/next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937"/>
                          </a:solidFill>
                          <a:latin typeface="Calibri"/>
                        </a:rPr>
                        <a:t>Picks the next available unit from the backlog and migrates it automatically.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A56DB"/>
                          </a:solidFill>
                          <a:latin typeface="Consolas"/>
                        </a:rPr>
                        <a:t>/migrate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937"/>
                          </a:solidFill>
                          <a:latin typeface="Calibri"/>
                        </a:rPr>
                        <a:t>Migrates a specific unit by name — used when standup assigns work.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A56DB"/>
                          </a:solidFill>
                          <a:latin typeface="Consolas"/>
                        </a:rPr>
                        <a:t>/verify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937"/>
                          </a:solidFill>
                          <a:latin typeface="Calibri"/>
                        </a:rPr>
                        <a:t>Runs lint, type-check, tests, a behavioural-parity + security check, and an advisory code-quality review before a unit is declared done.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A56DB"/>
                          </a:solidFill>
                          <a:latin typeface="Consolas"/>
                        </a:rPr>
                        <a:t>/parity-check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937"/>
                          </a:solidFill>
                          <a:latin typeface="Calibri"/>
                        </a:rPr>
                        <a:t>Compares a migrated unit's behaviour against the legacy original — validation, output shape, errors, UI states, security — and lets the team acknowledge intentional differences.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A56DB"/>
                          </a:solidFill>
                          <a:latin typeface="Consolas"/>
                        </a:rPr>
                        <a:t>/quality-check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937"/>
                          </a:solidFill>
                          <a:latin typeface="Calibri"/>
                        </a:rPr>
                        <a:t>Advisory review of the migrated code's idiomaticity — flags legacy patterns carried into the new stack. Never blocks.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A56DB"/>
                          </a:solidFill>
                          <a:latin typeface="Consolas"/>
                        </a:rPr>
                        <a:t>/retry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937"/>
                          </a:solidFill>
                          <a:latin typeface="Calibri"/>
                        </a:rPr>
                        <a:t>Re-attempts a failed unit, optionally with team-supplied corrective guidance.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A56DB"/>
                          </a:solidFill>
                          <a:latin typeface="Consolas"/>
                        </a:rPr>
                        <a:t>/rollback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937"/>
                          </a:solidFill>
                          <a:latin typeface="Calibri"/>
                        </a:rPr>
                        <a:t>Reverts a single unit back to its original state in one git command.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A56DB"/>
                          </a:solidFill>
                          <a:latin typeface="Consolas"/>
                        </a:rPr>
                        <a:t>/sync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937"/>
                          </a:solidFill>
                          <a:latin typeface="Calibri"/>
                        </a:rPr>
                        <a:t>Merges teammates' parallel progress into the local copy with deterministic rules.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A56DB"/>
                          </a:solidFill>
                          <a:latin typeface="Consolas"/>
                        </a:rPr>
                        <a:t>/report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937"/>
                          </a:solidFill>
                          <a:latin typeface="Calibri"/>
                        </a:rPr>
                        <a:t>Generates a stakeholder report — burndown, ETA, risk — in Markdown, JSON, or HTML.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A56DB"/>
                          </a:solidFill>
                          <a:latin typeface="Consolas"/>
                        </a:rPr>
                        <a:t>/status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937"/>
                          </a:solidFill>
                          <a:latin typeface="Calibri"/>
                        </a:rPr>
                        <a:t>Shows a real-time dashboard of every unit, owner, and blocker (read-only).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A56DB"/>
                          </a:solidFill>
                          <a:latin typeface="Consolas"/>
                        </a:rPr>
                        <a:t>/unlock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937"/>
                          </a:solidFill>
                          <a:latin typeface="Calibri"/>
                        </a:rPr>
                        <a:t>Force-clears a stuck advisory lock left behind by a crashed session.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A56DB"/>
                          </a:solidFill>
                          <a:latin typeface="Consolas"/>
                        </a:rPr>
                        <a:t>/abandon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937"/>
                          </a:solidFill>
                          <a:latin typeface="Calibri"/>
                        </a:rPr>
                        <a:t>Formally drops a unit or resets the workspace — requires two-step confirmation.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" cy="96012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91440"/>
            <a:ext cx="117043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FAFBFC"/>
                </a:solidFill>
                <a:latin typeface="Segoe UI Semibold"/>
              </a:rPr>
              <a:t>Agents · Hooks · Templates · Framework Library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566928"/>
            <a:ext cx="117043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00C2CB"/>
                </a:solidFill>
                <a:latin typeface="Calibri"/>
              </a:rPr>
              <a:t>Every other custom artifact built into the plugin — one English sentence each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E6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620256"/>
            <a:ext cx="987552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web-modernize v0.13.0   ·   Balaji Harikrishnan   ·   Cognizant   ·   June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620256"/>
            <a:ext cx="77724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Segoe UI Semibold"/>
              </a:rPr>
              <a:t>11  /  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115568"/>
            <a:ext cx="114300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 i="0">
                <a:solidFill>
                  <a:srgbClr val="1A56DB"/>
                </a:solidFill>
                <a:latin typeface="Segoe UI Semibold"/>
              </a:rPr>
              <a:t>5 AI Agents   (specialised AIs that read your code, translate it, verify behaviour &amp; quality, and steer around known pitfalls)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1417320"/>
          <a:ext cx="11460174" cy="14264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1238"/>
                <a:gridCol w="8938936"/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FAFBFC"/>
                          </a:solidFill>
                          <a:latin typeface="Segoe UI Semibold"/>
                        </a:rPr>
                        <a:t>Agent</a:t>
                      </a:r>
                    </a:p>
                  </a:txBody>
                  <a:tcPr anchor="ctr" marL="73152" marR="73152" marT="18288" marB="18288">
                    <a:solidFill>
                      <a:srgbClr val="1A56D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FAFBFC"/>
                          </a:solidFill>
                          <a:latin typeface="Segoe UI Semibold"/>
                        </a:rPr>
                        <a:t>What It Does</a:t>
                      </a:r>
                    </a:p>
                  </a:txBody>
                  <a:tcPr anchor="ctr" marL="73152" marR="73152" marT="18288" marB="18288">
                    <a:solidFill>
                      <a:srgbClr val="1A56DB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A56DB"/>
                          </a:solidFill>
                          <a:latin typeface="Consolas"/>
                        </a:rPr>
                        <a:t>legacy-analyzer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937"/>
                          </a:solidFill>
                          <a:latin typeface="Calibri"/>
                        </a:rPr>
                        <a:t>Read-only AI agent that inspects the legacy codebase and produces a structured stack inventory.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A56DB"/>
                          </a:solidFill>
                          <a:latin typeface="Consolas"/>
                        </a:rPr>
                        <a:t>unit-migrator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937"/>
                          </a:solidFill>
                          <a:latin typeface="Calibri"/>
                        </a:rPr>
                        <a:t>Core migration engine that translates one page or feature from legacy code to the modern target stack.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A56DB"/>
                          </a:solidFill>
                          <a:latin typeface="Consolas"/>
                        </a:rPr>
                        <a:t>parity-reviewer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937"/>
                          </a:solidFill>
                          <a:latin typeface="Calibri"/>
                        </a:rPr>
                        <a:t>Read-only AI that compares migrated vs legacy for behavioural AND security differences tests can't catch.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A56DB"/>
                          </a:solidFill>
                          <a:latin typeface="Consolas"/>
                        </a:rPr>
                        <a:t>migration-critic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937"/>
                          </a:solidFill>
                          <a:latin typeface="Calibri"/>
                        </a:rPr>
                        <a:t>Read-only, advisory AI that reviews the migrated code's idiomaticity — flags legacy patterns leaking into the new stack.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A56DB"/>
                          </a:solidFill>
                          <a:latin typeface="Consolas"/>
                        </a:rPr>
                        <a:t>permanent-gotchas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937"/>
                          </a:solidFill>
                          <a:latin typeface="Calibri"/>
                        </a:rPr>
                        <a:t>Curated read-only catalog of bugs the AI cannot reliably discover on its own — first-run crashes and silent failures.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65760" y="2880360"/>
            <a:ext cx="114300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 i="0">
                <a:solidFill>
                  <a:srgbClr val="1A56DB"/>
                </a:solidFill>
                <a:latin typeface="Segoe UI Semibold"/>
              </a:rPr>
              <a:t>2 Automation Hooks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182112"/>
          <a:ext cx="11460174" cy="850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1238"/>
                <a:gridCol w="8938936"/>
              </a:tblGrid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FAFBFC"/>
                          </a:solidFill>
                          <a:latin typeface="Segoe UI Semibold"/>
                        </a:rPr>
                        <a:t>Hook</a:t>
                      </a:r>
                    </a:p>
                  </a:txBody>
                  <a:tcPr anchor="ctr" marL="73152" marR="73152" marT="18288" marB="18288">
                    <a:solidFill>
                      <a:srgbClr val="1A56D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FAFBFC"/>
                          </a:solidFill>
                          <a:latin typeface="Segoe UI Semibold"/>
                        </a:rPr>
                        <a:t>What It Does</a:t>
                      </a:r>
                    </a:p>
                  </a:txBody>
                  <a:tcPr anchor="ctr" marL="73152" marR="73152" marT="18288" marB="18288">
                    <a:solidFill>
                      <a:srgbClr val="1A56DB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A56DB"/>
                          </a:solidFill>
                          <a:latin typeface="Consolas"/>
                        </a:rPr>
                        <a:t>hooks.json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937"/>
                          </a:solidFill>
                          <a:latin typeface="Calibri"/>
                        </a:rPr>
                        <a:t>Registers the heartbeat to fire automatically after every file save during migration work.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A56DB"/>
                          </a:solidFill>
                          <a:latin typeface="Consolas"/>
                        </a:rPr>
                        <a:t>heartbeat.mjs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937"/>
                          </a:solidFill>
                          <a:latin typeface="Calibri"/>
                        </a:rPr>
                        <a:t>Stamps each developer's in-progress unit in real time so the team can detect stalled work.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365760" y="4133087"/>
            <a:ext cx="114300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 i="0">
                <a:solidFill>
                  <a:srgbClr val="1A56DB"/>
                </a:solidFill>
                <a:latin typeface="Segoe UI Semibold"/>
              </a:rPr>
              <a:t>9 Templates  ·  31 Framework Files  ·  1 Workflow Script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65760" y="4434840"/>
          <a:ext cx="11460174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96459"/>
                <a:gridCol w="7563715"/>
              </a:tblGrid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FAFBFC"/>
                          </a:solidFill>
                          <a:latin typeface="Segoe UI Semibold"/>
                        </a:rPr>
                        <a:t>Artifact</a:t>
                      </a:r>
                    </a:p>
                  </a:txBody>
                  <a:tcPr anchor="ctr" marL="73152" marR="73152" marT="18288" marB="18288">
                    <a:solidFill>
                      <a:srgbClr val="1A56D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FAFBFC"/>
                          </a:solidFill>
                          <a:latin typeface="Segoe UI Semibold"/>
                        </a:rPr>
                        <a:t>What It Does</a:t>
                      </a:r>
                    </a:p>
                  </a:txBody>
                  <a:tcPr anchor="ctr" marL="73152" marR="73152" marT="18288" marB="18288">
                    <a:solidFill>
                      <a:srgbClr val="1A56DB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migration.md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The team-editable configuration: target stack, strategy, auth, acceptance criteria.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migration-interview.json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Declarative question catalog driving /analyze's interactive setup interview.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frameworks/&lt;name&gt;.md  ×31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One file per supported framework — detection signals, scaffold recipe, test framework, auth notes.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workflows/analyze-discovery.js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Workflow-tool orchestration script — exhaustive loop-until-dry entry-point discovery driving /analyze.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state.schema.json  +  unit.schema.json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Schemas for the workflow ledger and per-unit state — one JSON file per unit, conflict-free in git.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plan.md  +  report.md  +  notes-template.md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Templates for the auto-generated plan, stakeholder reports, and per-unit design notes.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verify.config.json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Per-stack lint, type-check, and test commands used by /verify.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permanent-gotchas/fastapi/pyproject.toml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Reference asset that bypasses a known FastAPI install gotcha automatically.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83767" y="1097280"/>
            <a:ext cx="3291840" cy="50292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9487" y="1115568"/>
            <a:ext cx="3200400" cy="46634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0" i="0">
                <a:solidFill>
                  <a:srgbClr val="FAFBFC"/>
                </a:solidFill>
                <a:latin typeface="Segoe UI Semibold"/>
              </a:rPr>
              <a:t>AI translates · You approve</a:t>
            </a:r>
          </a:p>
        </p:txBody>
      </p:sp>
      <p:sp>
        <p:nvSpPr>
          <p:cNvPr id="8" name="Rectangle 7"/>
          <p:cNvSpPr/>
          <p:nvPr/>
        </p:nvSpPr>
        <p:spPr>
          <a:xfrm>
            <a:off x="4449927" y="1097280"/>
            <a:ext cx="3291840" cy="50292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95647" y="1115568"/>
            <a:ext cx="3200400" cy="46634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0" i="0">
                <a:solidFill>
                  <a:srgbClr val="FAFBFC"/>
                </a:solidFill>
                <a:latin typeface="Segoe UI Semibold"/>
              </a:rPr>
              <a:t>20+ developers · Zero conflicts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16087" y="1097280"/>
            <a:ext cx="3291840" cy="50292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61807" y="1115568"/>
            <a:ext cx="3200400" cy="46634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0" i="0">
                <a:solidFill>
                  <a:srgbClr val="FAFBFC"/>
                </a:solidFill>
                <a:latin typeface="Segoe UI Semibold"/>
              </a:rPr>
              <a:t>Full visibility · Every sprint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011680"/>
            <a:ext cx="10911535" cy="1828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600" b="0" i="0">
                <a:solidFill>
                  <a:srgbClr val="FAFBFC"/>
                </a:solidFill>
                <a:latin typeface="Segoe UI Semibold"/>
              </a:rPr>
              <a:t>web-modernize turns a multi-year legacy rewrite
into a measurable, sprint-by-sprint delivery
with safety nets at every step.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4160520"/>
            <a:ext cx="10362895" cy="137160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251960"/>
            <a:ext cx="10362895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800" b="0" i="0">
                <a:solidFill>
                  <a:srgbClr val="FAFBFC"/>
                </a:solidFill>
                <a:latin typeface="Segoe UI Semibold"/>
              </a:rPr>
              <a:t>Next Step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709160"/>
            <a:ext cx="1005840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500" b="0" i="0">
                <a:solidFill>
                  <a:srgbClr val="FAFBFC"/>
                </a:solidFill>
                <a:latin typeface="Calibri"/>
              </a:rPr>
              <a:t>Pilot the plugin on one legacy application this sprint.
Run  /web-modernize:analyze  and see your full migration scope in minutes.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760720"/>
            <a:ext cx="11277295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300" b="0" i="0">
                <a:solidFill>
                  <a:srgbClr val="FAFBFC"/>
                </a:solidFill>
                <a:latin typeface="Calibri"/>
              </a:rPr>
              <a:t>Balaji Harikrishnan   ·   balaji.harikrishnan@cognizant.com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126480"/>
            <a:ext cx="11277295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web-modernize v0.13.0   ·   github.com/balaji-hari/web-mordernize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